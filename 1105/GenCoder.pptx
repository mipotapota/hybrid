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  <p:sldId id="268" r:id="rId10"/>
    <p:sldId id="267" r:id="rId11"/>
    <p:sldId id="269" r:id="rId12"/>
    <p:sldId id="273" r:id="rId13"/>
    <p:sldId id="270" r:id="rId14"/>
    <p:sldId id="271" r:id="rId15"/>
    <p:sldId id="272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67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potapota/hybrid/blob/main/1105/2_%EC%A0%9C%EC%9E%91%ED%88%B4_%EC%B5%9C%EC%A2%85.m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mipotapota/hybrid/blob/main/1105/3_%EC%A0%9C%EC%9E%91%EA%B3%BC%EC%A0%95_%EC%A4%91%ED%95%99%EC%83%9D%EC%9A%A9.m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mipotapota/hybrid/blob/main/1105/4_GitHub%ED%98%B8%EC%8A%A4%ED%8C%85_%EA%B0%80%EC%9D%B4%EB%93%9C.m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ipotapota.github.io/hybrid/1105/index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2659"/>
                  </a:lnSpc>
                  <a:defRPr/>
                </a:pPr>
                <a:endParaRPr lang="en-US" sz="1899">
                  <a:solidFill>
                    <a:srgbClr val="5A72B5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endParaRPr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2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886199" y="3157538"/>
            <a:ext cx="10515600" cy="17049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>
              <a:lnSpc>
                <a:spcPts val="13425"/>
              </a:lnSpc>
              <a:spcBef>
                <a:spcPct val="0"/>
              </a:spcBef>
              <a:defRPr/>
            </a:pPr>
            <a:r>
              <a:rPr lang="en-US" sz="8000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베스킨라빈스</a:t>
            </a:r>
            <a:r>
              <a:rPr lang="ko-KR" altLang="en-US" sz="8000" b="1" dirty="0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ko-KR" altLang="en-US" sz="8000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도감게임</a:t>
            </a:r>
            <a:endParaRPr lang="ko-KR" altLang="en-US" sz="8000" b="1" dirty="0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95594" y="6134100"/>
            <a:ext cx="15496810" cy="8858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7000"/>
              </a:lnSpc>
              <a:defRPr/>
            </a:pPr>
            <a:r>
              <a:rPr lang="en-US" sz="4200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Team </a:t>
            </a:r>
            <a:r>
              <a:rPr lang="en-US" sz="4200" dirty="0" err="1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GenCoder</a:t>
            </a:r>
            <a:endParaRPr lang="en-US" sz="4200" dirty="0">
              <a:solidFill>
                <a:srgbClr val="728ACC"/>
              </a:solidFill>
              <a:latin typeface="각진펜"/>
              <a:ea typeface="각진펜"/>
              <a:cs typeface="각진펜"/>
              <a:sym typeface="각진펜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95594" y="6972300"/>
            <a:ext cx="15496810" cy="863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7000"/>
              </a:lnSpc>
              <a:defRPr/>
            </a:pPr>
            <a:r>
              <a:rPr lang="en-US" sz="500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김산 , 이예진 , 강민우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57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58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9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2659"/>
                  </a:lnSpc>
                  <a:defRPr/>
                </a:pPr>
                <a:endParaRPr lang="en-US" sz="1899">
                  <a:solidFill>
                    <a:srgbClr val="5A72B5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endParaRPr>
              </a:p>
            </p:txBody>
          </p:sp>
        </p:grpSp>
        <p:sp>
          <p:nvSpPr>
            <p:cNvPr id="60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</p:spPr>
        </p:sp>
        <p:sp>
          <p:nvSpPr>
            <p:cNvPr id="61" name="Freeform 7"/>
            <p:cNvSpPr/>
            <p:nvPr/>
          </p:nvSpPr>
          <p:spPr>
            <a:xfrm>
              <a:off x="19560592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540556" y="417864"/>
            <a:ext cx="1014750" cy="855772"/>
          </a:xfrm>
          <a:custGeom>
            <a:avLst/>
            <a:gdLst/>
            <a:ahLst/>
            <a:cxnLst/>
            <a:rect l="l" t="t" r="r" b="b"/>
            <a:pathLst>
              <a:path w="1014750" h="855772">
                <a:moveTo>
                  <a:pt x="0" y="0"/>
                </a:moveTo>
                <a:lnTo>
                  <a:pt x="1014750" y="0"/>
                </a:lnTo>
                <a:lnTo>
                  <a:pt x="1014750" y="855772"/>
                </a:lnTo>
                <a:lnTo>
                  <a:pt x="0" y="855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99143" y="417864"/>
            <a:ext cx="1014750" cy="855772"/>
          </a:xfrm>
          <a:custGeom>
            <a:avLst/>
            <a:gdLst/>
            <a:ahLst/>
            <a:cxnLst/>
            <a:rect l="l" t="t" r="r" b="b"/>
            <a:pathLst>
              <a:path w="1014750" h="855772">
                <a:moveTo>
                  <a:pt x="0" y="0"/>
                </a:moveTo>
                <a:lnTo>
                  <a:pt x="1014750" y="0"/>
                </a:lnTo>
                <a:lnTo>
                  <a:pt x="1014750" y="855772"/>
                </a:lnTo>
                <a:lnTo>
                  <a:pt x="0" y="855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76015" y="1990090"/>
            <a:ext cx="1014750" cy="555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목차</a:t>
            </a:r>
            <a:endParaRPr lang="en-US" sz="3200" b="1" dirty="0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213710" y="3757387"/>
            <a:ext cx="446464" cy="32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913" b="1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51973" y="3752625"/>
            <a:ext cx="446464" cy="32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913" b="1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05.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13710" y="4959785"/>
            <a:ext cx="446464" cy="33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913" b="1" dirty="0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1973" y="4955022"/>
            <a:ext cx="446464" cy="32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913" b="1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51148" y="3743935"/>
            <a:ext cx="584516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 err="1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역할분담,프로젝트</a:t>
            </a:r>
            <a:r>
              <a:rPr lang="en-US" sz="2199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 </a:t>
            </a:r>
            <a:r>
              <a:rPr lang="en-US" sz="2199" dirty="0" err="1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소개</a:t>
            </a:r>
            <a:endParaRPr lang="en-US" sz="2199" dirty="0">
              <a:solidFill>
                <a:srgbClr val="728ACC"/>
              </a:solidFill>
              <a:latin typeface="각진펜"/>
              <a:ea typeface="각진펜"/>
              <a:cs typeface="각진펜"/>
              <a:sym typeface="각진펜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775823" y="7332913"/>
            <a:ext cx="584516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제작 툴 및 프롬프트 목록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9411" y="3725720"/>
            <a:ext cx="584516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개발환경과 개발과정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128749" y="4549984"/>
            <a:ext cx="6492240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9667011" y="4545221"/>
            <a:ext cx="6492240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2128749" y="5767747"/>
            <a:ext cx="6492240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9667011" y="5762984"/>
            <a:ext cx="6492240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2128749" y="6985510"/>
            <a:ext cx="6492240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9667011" y="6980747"/>
            <a:ext cx="6492240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2128749" y="8203273"/>
            <a:ext cx="6492240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9667011" y="8198510"/>
            <a:ext cx="6492240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2775823" y="4964321"/>
            <a:ext cx="584516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 err="1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핵심기능,차별화</a:t>
            </a:r>
            <a:r>
              <a:rPr lang="en-US" sz="2199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 </a:t>
            </a:r>
            <a:r>
              <a:rPr lang="en-US" sz="2199" dirty="0" err="1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포이트</a:t>
            </a:r>
            <a:endParaRPr lang="en-US" sz="2199" dirty="0">
              <a:solidFill>
                <a:srgbClr val="728ACC"/>
              </a:solidFill>
              <a:latin typeface="각진펜"/>
              <a:ea typeface="각진펜"/>
              <a:cs typeface="각진펜"/>
              <a:sym typeface="각진펜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361352" y="4946332"/>
            <a:ext cx="584516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중학생 가이드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61352" y="6130515"/>
            <a:ext cx="584516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실제 앱 실행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13710" y="6162182"/>
            <a:ext cx="446464" cy="32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913" b="1" dirty="0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03.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13710" y="7364580"/>
            <a:ext cx="446464" cy="32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913" b="1" dirty="0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04.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51973" y="7359817"/>
            <a:ext cx="446464" cy="33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913" b="1" dirty="0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75823" y="6135278"/>
            <a:ext cx="584516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 err="1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회의</a:t>
            </a:r>
            <a:r>
              <a:rPr lang="en-US" sz="2199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 </a:t>
            </a:r>
            <a:r>
              <a:rPr lang="en-US" sz="2199" dirty="0" err="1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내용</a:t>
            </a:r>
            <a:endParaRPr lang="en-US" sz="2199" dirty="0">
              <a:solidFill>
                <a:srgbClr val="728ACC"/>
              </a:solidFill>
              <a:latin typeface="각진펜"/>
              <a:ea typeface="각진펜"/>
              <a:cs typeface="각진펜"/>
              <a:sym typeface="각진펜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361352" y="7346365"/>
            <a:ext cx="584516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느낀점</a:t>
            </a:r>
          </a:p>
        </p:txBody>
      </p:sp>
      <p:sp>
        <p:nvSpPr>
          <p:cNvPr id="32" name="TextBox 11"/>
          <p:cNvSpPr txBox="1"/>
          <p:nvPr/>
        </p:nvSpPr>
        <p:spPr>
          <a:xfrm>
            <a:off x="1969271" y="3400016"/>
            <a:ext cx="935341" cy="87670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7000"/>
              </a:lnSpc>
              <a:defRPr/>
            </a:pPr>
            <a:r>
              <a:rPr lang="en-US" sz="200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1</a:t>
            </a: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1C6C9464-63FC-44C0-8391-8F0DCA621733}"/>
              </a:ext>
            </a:extLst>
          </p:cNvPr>
          <p:cNvSpPr txBox="1"/>
          <p:nvPr/>
        </p:nvSpPr>
        <p:spPr>
          <a:xfrm>
            <a:off x="1965834" y="4582773"/>
            <a:ext cx="935341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000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2</a:t>
            </a: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19EC6227-0176-4DD8-B36C-399EC81978F7}"/>
              </a:ext>
            </a:extLst>
          </p:cNvPr>
          <p:cNvSpPr txBox="1"/>
          <p:nvPr/>
        </p:nvSpPr>
        <p:spPr>
          <a:xfrm>
            <a:off x="1965834" y="5759174"/>
            <a:ext cx="935341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000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3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833E3C79-3EC1-4A48-9ECD-5E7D5F8835AF}"/>
              </a:ext>
            </a:extLst>
          </p:cNvPr>
          <p:cNvSpPr txBox="1"/>
          <p:nvPr/>
        </p:nvSpPr>
        <p:spPr>
          <a:xfrm>
            <a:off x="1965834" y="6980747"/>
            <a:ext cx="935341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000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4</a:t>
            </a: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FAC26906-D88A-4B25-A0AC-F38FD2CA0A70}"/>
              </a:ext>
            </a:extLst>
          </p:cNvPr>
          <p:cNvSpPr txBox="1"/>
          <p:nvPr/>
        </p:nvSpPr>
        <p:spPr>
          <a:xfrm>
            <a:off x="9507533" y="3369763"/>
            <a:ext cx="935341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000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5</a:t>
            </a: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0A674C82-7F80-4373-8A6E-ACE6ECE8CA50}"/>
              </a:ext>
            </a:extLst>
          </p:cNvPr>
          <p:cNvSpPr txBox="1"/>
          <p:nvPr/>
        </p:nvSpPr>
        <p:spPr>
          <a:xfrm>
            <a:off x="9507534" y="4565346"/>
            <a:ext cx="935341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000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6</a:t>
            </a:r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34BE7895-6DEB-439E-94DE-FC7827384C1A}"/>
              </a:ext>
            </a:extLst>
          </p:cNvPr>
          <p:cNvSpPr txBox="1"/>
          <p:nvPr/>
        </p:nvSpPr>
        <p:spPr>
          <a:xfrm>
            <a:off x="9507534" y="5862335"/>
            <a:ext cx="935341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2000" dirty="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7</a:t>
            </a:r>
          </a:p>
        </p:txBody>
      </p:sp>
      <p:sp>
        <p:nvSpPr>
          <p:cNvPr id="43" name="TextBox 11"/>
          <p:cNvSpPr txBox="1"/>
          <p:nvPr/>
        </p:nvSpPr>
        <p:spPr>
          <a:xfrm>
            <a:off x="9507533" y="6924675"/>
            <a:ext cx="935341" cy="876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7000"/>
              </a:lnSpc>
              <a:defRPr/>
            </a:pPr>
            <a:r>
              <a:rPr lang="en-US" sz="2000">
                <a:solidFill>
                  <a:srgbClr val="728ACC"/>
                </a:solidFill>
                <a:latin typeface="각진펜"/>
                <a:ea typeface="각진펜"/>
                <a:cs typeface="각진펜"/>
                <a:sym typeface="각진펜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"/>
          <p:cNvGrpSpPr/>
          <p:nvPr/>
        </p:nvGrpSpPr>
        <p:grpSpPr>
          <a:xfrm>
            <a:off x="1028700" y="427389"/>
            <a:ext cx="16230600" cy="8840436"/>
            <a:chOff x="0" y="0"/>
            <a:chExt cx="21640800" cy="11787248"/>
          </a:xfrm>
        </p:grpSpPr>
        <p:grpSp>
          <p:nvGrpSpPr>
            <p:cNvPr id="26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27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28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2659"/>
                  </a:lnSpc>
                  <a:defRPr/>
                </a:pPr>
                <a:endParaRPr lang="en-US" sz="1899">
                  <a:solidFill>
                    <a:srgbClr val="5A72B5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endParaRPr>
              </a:p>
            </p:txBody>
          </p:sp>
        </p:grpSp>
        <p:sp>
          <p:nvSpPr>
            <p:cNvPr id="29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</p:spPr>
        </p:sp>
        <p:sp>
          <p:nvSpPr>
            <p:cNvPr id="30" name="Freeform 7"/>
            <p:cNvSpPr/>
            <p:nvPr/>
          </p:nvSpPr>
          <p:spPr>
            <a:xfrm>
              <a:off x="19560592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540556" y="417864"/>
            <a:ext cx="1014750" cy="855772"/>
          </a:xfrm>
          <a:custGeom>
            <a:avLst/>
            <a:gdLst/>
            <a:ahLst/>
            <a:cxnLst/>
            <a:rect l="l" t="t" r="r" b="b"/>
            <a:pathLst>
              <a:path w="1014750" h="855772">
                <a:moveTo>
                  <a:pt x="0" y="0"/>
                </a:moveTo>
                <a:lnTo>
                  <a:pt x="1014750" y="0"/>
                </a:lnTo>
                <a:lnTo>
                  <a:pt x="1014750" y="855772"/>
                </a:lnTo>
                <a:lnTo>
                  <a:pt x="0" y="855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99143" y="417864"/>
            <a:ext cx="1014750" cy="855772"/>
          </a:xfrm>
          <a:custGeom>
            <a:avLst/>
            <a:gdLst/>
            <a:ahLst/>
            <a:cxnLst/>
            <a:rect l="l" t="t" r="r" b="b"/>
            <a:pathLst>
              <a:path w="1014750" h="855772">
                <a:moveTo>
                  <a:pt x="0" y="0"/>
                </a:moveTo>
                <a:lnTo>
                  <a:pt x="1014750" y="0"/>
                </a:lnTo>
                <a:lnTo>
                  <a:pt x="1014750" y="855772"/>
                </a:lnTo>
                <a:lnTo>
                  <a:pt x="0" y="8557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9136717" y="5310651"/>
            <a:ext cx="7577176" cy="349044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542"/>
              </a:lnSpc>
              <a:defRPr/>
            </a:pPr>
            <a:r>
              <a:rPr lang="en-US" sz="2600" spc="-103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•친숙한 브랜드로 흥미 유발</a:t>
            </a:r>
          </a:p>
          <a:p>
            <a:pPr lvl="0" algn="l">
              <a:lnSpc>
                <a:spcPts val="5542"/>
              </a:lnSpc>
              <a:defRPr/>
            </a:pPr>
            <a:r>
              <a:rPr lang="en-US" sz="2600" spc="-103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•실제 베스킨라빈스 인기 메뉴 30종 수록</a:t>
            </a:r>
          </a:p>
          <a:p>
            <a:pPr lvl="0" algn="l">
              <a:lnSpc>
                <a:spcPts val="5542"/>
              </a:lnSpc>
              <a:defRPr/>
            </a:pPr>
            <a:r>
              <a:rPr lang="en-US" sz="2600" spc="-103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•매월 변경되는 이달의 맛 12종</a:t>
            </a:r>
          </a:p>
          <a:p>
            <a:pPr lvl="0" algn="l">
              <a:lnSpc>
                <a:spcPts val="5542"/>
              </a:lnSpc>
              <a:defRPr/>
            </a:pPr>
            <a:r>
              <a:rPr lang="en-US" sz="2600" spc="-103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•수집의 재미 + 보상의 즐거움</a:t>
            </a:r>
          </a:p>
          <a:p>
            <a:pPr lvl="0" algn="l">
              <a:lnSpc>
                <a:spcPts val="5542"/>
              </a:lnSpc>
              <a:defRPr/>
            </a:pPr>
            <a:endParaRPr lang="en-US" sz="2600" spc="-103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55984" y="1806684"/>
            <a:ext cx="992725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역할분담및 프로젝트 소개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60966" y="4729625"/>
            <a:ext cx="1768226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이예진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60966" y="6314757"/>
            <a:ext cx="1768226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강민우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96550" y="3759690"/>
            <a:ext cx="5357650" cy="132083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5198"/>
              </a:lnSpc>
              <a:defRPr/>
            </a:pPr>
            <a:r>
              <a:rPr lang="en-US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베스킨라빈스 아이스크림을 </a:t>
            </a:r>
          </a:p>
          <a:p>
            <a:pPr lvl="0" algn="l">
              <a:lnSpc>
                <a:spcPts val="5198"/>
              </a:lnSpc>
              <a:defRPr/>
            </a:pPr>
            <a:r>
              <a:rPr lang="en-US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수집하는 모바일 도감 게임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B8F648-FE05-4DCB-9D45-212B15655DAC}"/>
              </a:ext>
            </a:extLst>
          </p:cNvPr>
          <p:cNvSpPr/>
          <p:nvPr/>
        </p:nvSpPr>
        <p:spPr>
          <a:xfrm>
            <a:off x="8794385" y="4958834"/>
            <a:ext cx="699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FFFF"/>
                </a:solidFill>
              </a:rPr>
              <a:t>김 산</a:t>
            </a:r>
            <a:endParaRPr lang="ko-KR" altLang="en-US" dirty="0">
              <a:effectLst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2667000" y="4610100"/>
            <a:ext cx="5181600" cy="1981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5198"/>
              </a:lnSpc>
              <a:defRPr/>
            </a:pPr>
            <a:r>
              <a:rPr lang="ko-KR" altLang="en-US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김 산</a:t>
            </a:r>
            <a:r>
              <a:rPr lang="en-US" altLang="ko-KR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:</a:t>
            </a:r>
            <a:r>
              <a:rPr lang="ko-KR" altLang="en-US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기능구현</a:t>
            </a:r>
          </a:p>
          <a:p>
            <a:pPr lvl="0" algn="l">
              <a:lnSpc>
                <a:spcPts val="5198"/>
              </a:lnSpc>
              <a:defRPr/>
            </a:pPr>
            <a:r>
              <a:rPr lang="ko-KR" altLang="en-US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이예진</a:t>
            </a:r>
            <a:r>
              <a:rPr lang="en-US" altLang="ko-KR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:</a:t>
            </a:r>
            <a:r>
              <a:rPr lang="ko-KR" altLang="en-US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기능 및 레이아웃</a:t>
            </a:r>
          </a:p>
          <a:p>
            <a:pPr lvl="0" algn="l">
              <a:lnSpc>
                <a:spcPts val="5198"/>
              </a:lnSpc>
              <a:defRPr/>
            </a:pPr>
            <a:r>
              <a:rPr lang="ko-KR" altLang="en-US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강민우</a:t>
            </a:r>
            <a:r>
              <a:rPr lang="en-US" altLang="ko-KR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:</a:t>
            </a:r>
            <a:r>
              <a:rPr lang="ko-KR" altLang="en-US" sz="2600" spc="-97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문서 및 발표</a:t>
            </a:r>
          </a:p>
        </p:txBody>
      </p:sp>
      <p:sp>
        <p:nvSpPr>
          <p:cNvPr id="22" name="TextBox 9"/>
          <p:cNvSpPr txBox="1"/>
          <p:nvPr/>
        </p:nvSpPr>
        <p:spPr>
          <a:xfrm>
            <a:off x="2667000" y="3848100"/>
            <a:ext cx="4876800" cy="5715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  <a:defRPr/>
            </a:pPr>
            <a:r>
              <a:rPr lang="ko-KR" alt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역할분담</a:t>
            </a:r>
          </a:p>
        </p:txBody>
      </p:sp>
      <p:sp>
        <p:nvSpPr>
          <p:cNvPr id="23" name="TextBox 9"/>
          <p:cNvSpPr txBox="1"/>
          <p:nvPr/>
        </p:nvSpPr>
        <p:spPr>
          <a:xfrm>
            <a:off x="9220200" y="3054459"/>
            <a:ext cx="4876800" cy="56504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  <a:defRPr/>
            </a:pPr>
            <a:r>
              <a:rPr lang="ko-KR" alt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소개</a:t>
            </a:r>
          </a:p>
        </p:txBody>
      </p:sp>
      <p:sp>
        <p:nvSpPr>
          <p:cNvPr id="24" name="AutoShape 7"/>
          <p:cNvSpPr/>
          <p:nvPr/>
        </p:nvSpPr>
        <p:spPr>
          <a:xfrm>
            <a:off x="8839200" y="5295900"/>
            <a:ext cx="6096000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755984" y="3435908"/>
            <a:ext cx="3959016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323" spc="-69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매일</a:t>
            </a:r>
            <a:r>
              <a:rPr lang="en-US" sz="2323" spc="-69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323" spc="-69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뽑기권</a:t>
            </a:r>
            <a:r>
              <a:rPr lang="en-US" sz="2323" spc="-69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323" spc="-69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획득</a:t>
            </a:r>
            <a:r>
              <a:rPr lang="en-US" sz="2323" spc="-69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(</a:t>
            </a:r>
            <a:r>
              <a:rPr lang="en-US" sz="2323" spc="-69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최대</a:t>
            </a:r>
            <a:r>
              <a:rPr lang="en-US" sz="2323" spc="-69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2장/일)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5984" y="1806684"/>
            <a:ext cx="992725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핵심 기능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5984" y="2983788"/>
            <a:ext cx="321304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출석체크 &amp;퀴즈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5984" y="4153007"/>
            <a:ext cx="321304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뽑기</a:t>
            </a:r>
            <a:r>
              <a:rPr lang="en-US" sz="3200" b="1" dirty="0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en-US" sz="3200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시스템</a:t>
            </a:r>
            <a:endParaRPr lang="en-US" sz="3200" b="1" dirty="0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55984" y="4605127"/>
            <a:ext cx="4543216" cy="44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323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기본맛 95% / 이달의 맛 5% 확률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55984" y="5263830"/>
            <a:ext cx="321304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포인트 마일스톤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55984" y="5714588"/>
            <a:ext cx="4543216" cy="44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323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이달의 맛 1장당 100pt 적립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55984" y="6403170"/>
            <a:ext cx="321304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기프티콘 보상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5984" y="6855290"/>
            <a:ext cx="5864016" cy="4599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716"/>
              </a:lnSpc>
              <a:defRPr/>
            </a:pPr>
            <a:r>
              <a:rPr lang="en-US" sz="2323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도감 완성시 최대 40,000원 상당의 기프티콘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67767" y="1806684"/>
            <a:ext cx="5398969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차별화 포인트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86481" y="2807126"/>
            <a:ext cx="7582870" cy="5740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2497" spc="-74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•</a:t>
            </a:r>
            <a:r>
              <a:rPr lang="en-US" sz="2497" spc="-74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실제 데이터 기반</a:t>
            </a:r>
          </a:p>
          <a:p>
            <a:pPr algn="l">
              <a:lnSpc>
                <a:spcPts val="3996"/>
              </a:lnSpc>
            </a:pPr>
            <a:r>
              <a:rPr lang="en-US" sz="2497" spc="-74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→ </a:t>
            </a:r>
            <a:r>
              <a:rPr lang="en-US" sz="2497" spc="-74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베스킨라빈스 30년 판매 1위 "엄마는 외계인" 등</a:t>
            </a:r>
            <a:r>
              <a:rPr lang="en-US" sz="2497" spc="-74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</a:t>
            </a:r>
            <a:r>
              <a:rPr lang="en-US" sz="2497" spc="-74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실제 인기 메뉴</a:t>
            </a:r>
          </a:p>
          <a:p>
            <a:pPr algn="l">
              <a:lnSpc>
                <a:spcPts val="3996"/>
              </a:lnSpc>
            </a:pPr>
            <a:r>
              <a:rPr lang="en-US" sz="2497" spc="-74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•독창적인 포인트 시스템</a:t>
            </a:r>
          </a:p>
          <a:p>
            <a:pPr algn="l">
              <a:lnSpc>
                <a:spcPts val="3996"/>
              </a:lnSpc>
            </a:pPr>
            <a:r>
              <a:rPr lang="en-US" sz="2497" spc="-74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→ </a:t>
            </a:r>
            <a:r>
              <a:rPr lang="en-US" sz="2497" spc="-74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이달의 맛 12장 모으면 1,200pt = 아이스크림 케이크 확정!</a:t>
            </a:r>
          </a:p>
          <a:p>
            <a:pPr algn="l">
              <a:lnSpc>
                <a:spcPts val="3996"/>
              </a:lnSpc>
            </a:pPr>
            <a:r>
              <a:rPr lang="en-US" sz="2497" spc="-74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•프로급 애니메이션</a:t>
            </a:r>
          </a:p>
          <a:p>
            <a:pPr algn="l">
              <a:lnSpc>
                <a:spcPts val="3996"/>
              </a:lnSpc>
            </a:pPr>
            <a:r>
              <a:rPr lang="en-US" sz="2497" spc="-74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→ </a:t>
            </a:r>
            <a:r>
              <a:rPr lang="en-US" sz="2497" spc="-74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카드 뒤집기, 황금빛 효과, 포인트 상승 등 10종</a:t>
            </a:r>
          </a:p>
          <a:p>
            <a:pPr algn="l">
              <a:lnSpc>
                <a:spcPts val="3996"/>
              </a:lnSpc>
            </a:pPr>
            <a:r>
              <a:rPr lang="en-US" sz="2497" spc="-74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•전설 등급 40,000원</a:t>
            </a:r>
          </a:p>
          <a:p>
            <a:pPr algn="l">
              <a:lnSpc>
                <a:spcPts val="3996"/>
              </a:lnSpc>
            </a:pPr>
            <a:r>
              <a:rPr lang="en-US" sz="2497" spc="-74">
                <a:solidFill>
                  <a:srgbClr val="728ACC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 →</a:t>
            </a:r>
            <a:r>
              <a:rPr lang="en-US" sz="2497" spc="-74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0.01% 확률로 로또 같은 재미!</a:t>
            </a:r>
          </a:p>
          <a:p>
            <a:pPr algn="l">
              <a:lnSpc>
                <a:spcPts val="3996"/>
              </a:lnSpc>
            </a:pPr>
            <a:endParaRPr lang="en-US" sz="2497" spc="-74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755984" y="1534669"/>
            <a:ext cx="992725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회의 전체 내용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7ECBB79-D6C3-4442-A428-4FFD213B7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984" y="2226700"/>
            <a:ext cx="4365003" cy="65392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5638447-5C01-4605-BFC4-FF1CFF2C35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171543"/>
            <a:ext cx="4444236" cy="664958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AFAD52B-7126-4680-ACBE-63617E5180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287" y="2226700"/>
            <a:ext cx="4106816" cy="611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755984" y="1534669"/>
            <a:ext cx="992725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회의 전체 내용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4953186-CAF8-49BD-84B9-9823D579FF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984" y="2226700"/>
            <a:ext cx="4510531" cy="668570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986A361-99E2-4D56-9EA8-6DFD8052E3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162354"/>
            <a:ext cx="4510531" cy="673584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3E559DA-51F3-415E-BFCA-B5A5372FE1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0669" y="2148144"/>
            <a:ext cx="4625848" cy="6750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755984" y="2804931"/>
            <a:ext cx="14776033" cy="1549994"/>
            <a:chOff x="0" y="0"/>
            <a:chExt cx="19701377" cy="206665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rcRect t="31980" r="50370" b="52348"/>
            <a:stretch>
              <a:fillRect/>
            </a:stretch>
          </p:blipFill>
          <p:spPr>
            <a:xfrm>
              <a:off x="0" y="0"/>
              <a:ext cx="9824244" cy="2066658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4"/>
            <a:srcRect l="49476" t="31460" b="52586"/>
            <a:stretch>
              <a:fillRect/>
            </a:stretch>
          </p:blipFill>
          <p:spPr>
            <a:xfrm>
              <a:off x="9877135" y="0"/>
              <a:ext cx="9824242" cy="2066658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755984" y="1806684"/>
            <a:ext cx="992725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회의내용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5B4659-E29E-4A13-AADC-B110D03CE133}"/>
              </a:ext>
            </a:extLst>
          </p:cNvPr>
          <p:cNvSpPr txBox="1"/>
          <p:nvPr/>
        </p:nvSpPr>
        <p:spPr>
          <a:xfrm>
            <a:off x="1736150" y="4907922"/>
            <a:ext cx="10303450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2800" b="1" dirty="0">
                <a:solidFill>
                  <a:schemeClr val="tx2">
                    <a:lumMod val="75000"/>
                  </a:schemeClr>
                </a:solidFill>
              </a:rPr>
              <a:t>2025년 11월 6일</a:t>
            </a:r>
            <a:endParaRPr lang="ko-KR" altLang="ko-KR" sz="28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김산과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이예진이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프로젝트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마무리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및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다음날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민우에게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브리핑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계획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논의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로그인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및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코드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공유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정보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전달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개발은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김산이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마무리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PPT는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민우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담당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예정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ko-KR" altLang="ko-KR" sz="2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r>
              <a:rPr lang="en-US" altLang="ko-KR" sz="2800" b="1" dirty="0">
                <a:solidFill>
                  <a:schemeClr val="tx2">
                    <a:lumMod val="75000"/>
                  </a:schemeClr>
                </a:solidFill>
              </a:rPr>
              <a:t>2025년 11월 7일</a:t>
            </a:r>
            <a:endParaRPr lang="ko-KR" altLang="ko-KR" sz="2800" b="1" dirty="0">
              <a:solidFill>
                <a:schemeClr val="tx2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팀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전원이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본격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협업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시작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김산이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예진에게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기능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확인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요청하며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오류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수정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및 UI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마진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조정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논의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예진은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CSS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수정으로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개선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반영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두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사람은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코드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구조와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기능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점검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후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민우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역할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분담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논의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같은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날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저녁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김산이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민우와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전화회의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진행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민우는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PPT 및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이미지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수집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담당으로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배정됨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endParaRPr lang="ko-KR" altLang="ko-K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755984" y="2804931"/>
            <a:ext cx="14776033" cy="1549994"/>
            <a:chOff x="0" y="0"/>
            <a:chExt cx="19701377" cy="206665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rcRect t="31980" r="50370" b="52348"/>
            <a:stretch>
              <a:fillRect/>
            </a:stretch>
          </p:blipFill>
          <p:spPr>
            <a:xfrm>
              <a:off x="0" y="0"/>
              <a:ext cx="9824242" cy="2066658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4"/>
            <a:srcRect l="49476" t="31460" b="52586"/>
            <a:stretch>
              <a:fillRect/>
            </a:stretch>
          </p:blipFill>
          <p:spPr>
            <a:xfrm>
              <a:off x="9877135" y="0"/>
              <a:ext cx="9824242" cy="2066658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755984" y="1806684"/>
            <a:ext cx="992725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회의내용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611129-999B-4CB3-AAEE-8FAE0B59A498}"/>
              </a:ext>
            </a:extLst>
          </p:cNvPr>
          <p:cNvSpPr txBox="1"/>
          <p:nvPr/>
        </p:nvSpPr>
        <p:spPr>
          <a:xfrm>
            <a:off x="1736150" y="4907922"/>
            <a:ext cx="9770049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2800" b="1" dirty="0">
                <a:solidFill>
                  <a:schemeClr val="tx2">
                    <a:lumMod val="75000"/>
                  </a:schemeClr>
                </a:solidFill>
              </a:rPr>
              <a:t>2025년 11월 8일</a:t>
            </a:r>
            <a:endParaRPr lang="ko-KR" altLang="ko-KR" sz="28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이예진이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역할분담표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정리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완료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김산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기능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구현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),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이예진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(UI 및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기획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),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강민우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(PPT 및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발표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).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김산은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클라우드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작업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완료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후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최종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수정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및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도감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표시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버그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수정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세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사람은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최종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점검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후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발표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준비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완료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ko-KR" altLang="ko-K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altLang="ko-KR" sz="2800" b="1" dirty="0">
                <a:solidFill>
                  <a:schemeClr val="tx2">
                    <a:lumMod val="75000"/>
                  </a:schemeClr>
                </a:solidFill>
              </a:rPr>
              <a:t>2025년 11월 12일</a:t>
            </a:r>
            <a:endParaRPr lang="ko-KR" altLang="ko-KR" sz="28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발표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직전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PPT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퀄리티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문제로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김산과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예진이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재정비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논의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교수님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피드백을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반영해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PPT를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미리캔버스로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재제작하기로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결정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팀원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간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실시간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연락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및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현장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조율로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완성도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향상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추진</a:t>
            </a:r>
            <a:r>
              <a:rPr lang="en-US" altLang="ko-K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endParaRPr lang="ko-KR" altLang="ko-K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755984" y="1806684"/>
            <a:ext cx="992725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개발 환경과 개발 과정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2600" y="3129280"/>
            <a:ext cx="2190501" cy="7188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5722"/>
              </a:lnSpc>
              <a:spcBef>
                <a:spcPct val="0"/>
              </a:spcBef>
              <a:defRPr/>
            </a:pPr>
            <a:r>
              <a:rPr lang="en-US" sz="4087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개발 </a:t>
            </a:r>
            <a:r>
              <a:rPr lang="ko-KR" altLang="en-US" sz="4087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환경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00" y="4490490"/>
            <a:ext cx="6473616" cy="416094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082"/>
              </a:lnSpc>
              <a:defRPr/>
            </a:pP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Apache Cordova -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모바일</a:t>
            </a: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앱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프레임워크</a:t>
            </a:r>
            <a:endParaRPr lang="en-US" sz="2551" spc="-76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l">
              <a:lnSpc>
                <a:spcPts val="4082"/>
              </a:lnSpc>
              <a:defRPr/>
            </a:pP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HTML5 / CSS3 / JavaScript - 웹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기술</a:t>
            </a:r>
            <a:endParaRPr lang="en-US" sz="2551" spc="-76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l">
              <a:lnSpc>
                <a:spcPts val="4082"/>
              </a:lnSpc>
              <a:defRPr/>
            </a:pPr>
            <a:endParaRPr lang="en-US" sz="2551" spc="-76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l">
              <a:lnSpc>
                <a:spcPts val="4082"/>
              </a:lnSpc>
              <a:defRPr/>
            </a:pP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Claude Sonnet 4.5 (Anthropic)</a:t>
            </a:r>
          </a:p>
          <a:p>
            <a:pPr lvl="0" algn="l">
              <a:lnSpc>
                <a:spcPts val="4082"/>
              </a:lnSpc>
              <a:defRPr/>
            </a:pP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총 47개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프롬프트로</a:t>
            </a: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코드</a:t>
            </a: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생성</a:t>
            </a: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및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최적화</a:t>
            </a:r>
            <a:endParaRPr lang="en-US" sz="2551" spc="-76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l">
              <a:lnSpc>
                <a:spcPts val="4082"/>
              </a:lnSpc>
              <a:defRPr/>
            </a:pPr>
            <a:endParaRPr lang="en-US" sz="2551" spc="-76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l">
              <a:lnSpc>
                <a:spcPts val="4082"/>
              </a:lnSpc>
              <a:defRPr/>
            </a:pP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GitHub -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버전</a:t>
            </a: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관리</a:t>
            </a: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및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호스팅</a:t>
            </a:r>
            <a:endParaRPr lang="en-US" sz="2551" spc="-76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l">
              <a:lnSpc>
                <a:spcPts val="4082"/>
              </a:lnSpc>
              <a:defRPr/>
            </a:pP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카카오톡</a:t>
            </a: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-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실시간</a:t>
            </a:r>
            <a:r>
              <a:rPr lang="en-US" sz="2551" spc="-76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551" spc="-76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소통</a:t>
            </a:r>
            <a:endParaRPr lang="en-US" sz="2551" spc="-76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81054" y="4559726"/>
            <a:ext cx="6765732" cy="37623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679"/>
              </a:lnSpc>
              <a:defRPr/>
            </a:pP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Day 1 </a:t>
            </a:r>
          </a:p>
          <a:p>
            <a:pPr lvl="0" algn="l">
              <a:lnSpc>
                <a:spcPts val="3679"/>
              </a:lnSpc>
              <a:defRPr/>
            </a:pP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프로젝트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기획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•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기본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UI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설계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•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출석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/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퀴즈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구현</a:t>
            </a:r>
            <a:endParaRPr lang="en-US" sz="2299" spc="-68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l">
              <a:lnSpc>
                <a:spcPts val="3679"/>
              </a:lnSpc>
              <a:defRPr/>
            </a:pP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Day 2</a:t>
            </a:r>
          </a:p>
          <a:p>
            <a:pPr lvl="0" algn="l">
              <a:lnSpc>
                <a:spcPts val="3679"/>
              </a:lnSpc>
              <a:defRPr/>
            </a:pP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뽑기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시스템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•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도감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페이지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•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보상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시스템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기본</a:t>
            </a:r>
            <a:endParaRPr lang="en-US" sz="2299" spc="-68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l">
              <a:lnSpc>
                <a:spcPts val="3679"/>
              </a:lnSpc>
              <a:defRPr/>
            </a:pP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Day 3</a:t>
            </a:r>
          </a:p>
          <a:p>
            <a:pPr lvl="0" algn="l">
              <a:lnSpc>
                <a:spcPts val="3679"/>
              </a:lnSpc>
              <a:defRPr/>
            </a:pP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포인트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마일스톤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• 10종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애니메이션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• 40,000원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추가</a:t>
            </a:r>
            <a:endParaRPr lang="en-US" sz="2299" spc="-68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  <a:p>
            <a:pPr lvl="0" algn="l">
              <a:lnSpc>
                <a:spcPts val="3679"/>
              </a:lnSpc>
              <a:defRPr/>
            </a:pP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Day 4~7</a:t>
            </a:r>
          </a:p>
          <a:p>
            <a:pPr lvl="0" algn="l">
              <a:lnSpc>
                <a:spcPts val="3679"/>
              </a:lnSpc>
              <a:defRPr/>
            </a:pP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PPT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제작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•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발표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준비</a:t>
            </a:r>
            <a:r>
              <a:rPr lang="en-US" sz="2299" spc="-68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• </a:t>
            </a:r>
            <a:r>
              <a:rPr lang="en-US" sz="2299" spc="-68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리허설</a:t>
            </a:r>
            <a:endParaRPr lang="en-US" sz="2299" spc="-68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8" name="TextBox 12"/>
          <p:cNvSpPr txBox="1"/>
          <p:nvPr/>
        </p:nvSpPr>
        <p:spPr>
          <a:xfrm>
            <a:off x="10058400" y="3129280"/>
            <a:ext cx="2190501" cy="139352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5722"/>
              </a:lnSpc>
              <a:spcBef>
                <a:spcPct val="0"/>
              </a:spcBef>
              <a:defRPr/>
            </a:pPr>
            <a:r>
              <a:rPr lang="en-US" sz="4087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개발</a:t>
            </a:r>
            <a:r>
              <a:rPr lang="en-US" sz="4087" b="1" dirty="0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endParaRPr lang="en-US" sz="4087" b="1" dirty="0" smtClean="0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0" lvl="0" indent="0" algn="l">
              <a:lnSpc>
                <a:spcPts val="5722"/>
              </a:lnSpc>
              <a:spcBef>
                <a:spcPct val="0"/>
              </a:spcBef>
              <a:defRPr/>
            </a:pPr>
            <a:r>
              <a:rPr lang="en-US" sz="4087" b="1" dirty="0" err="1" smtClean="0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과정</a:t>
            </a:r>
            <a:endParaRPr lang="en-US" sz="4087" b="1" dirty="0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19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20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21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2659"/>
                  </a:lnSpc>
                  <a:defRPr/>
                </a:pPr>
                <a:endParaRPr/>
              </a:p>
            </p:txBody>
          </p:sp>
        </p:grpSp>
        <p:sp>
          <p:nvSpPr>
            <p:cNvPr id="22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</p:spPr>
        </p:sp>
        <p:sp>
          <p:nvSpPr>
            <p:cNvPr id="23" name="Freeform 7"/>
            <p:cNvSpPr/>
            <p:nvPr/>
          </p:nvSpPr>
          <p:spPr>
            <a:xfrm>
              <a:off x="19560592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/>
              <a:stretch>
                <a:fillRect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755984" y="1806684"/>
            <a:ext cx="9927252" cy="55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제작</a:t>
            </a:r>
            <a:r>
              <a:rPr lang="en-US" sz="3200" b="1" dirty="0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툴 및 프</a:t>
            </a:r>
            <a:r>
              <a:rPr lang="ko-KR" altLang="en-US" sz="3200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롬포</a:t>
            </a:r>
            <a:r>
              <a:rPr lang="en-US" sz="3200" b="1" dirty="0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트 </a:t>
            </a:r>
            <a:r>
              <a:rPr lang="en-US" sz="3200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목록</a:t>
            </a:r>
            <a:endParaRPr lang="en-US" sz="3200" b="1" dirty="0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grpSp>
        <p:nvGrpSpPr>
          <p:cNvPr id="14" name="Group 10">
            <a:extLst>
              <a:ext uri="{FF2B5EF4-FFF2-40B4-BE49-F238E27FC236}">
                <a16:creationId xmlns:a16="http://schemas.microsoft.com/office/drawing/2014/main" id="{D8D1EE3F-3C47-4E58-A42C-4417B37CD0E5}"/>
              </a:ext>
            </a:extLst>
          </p:cNvPr>
          <p:cNvGrpSpPr/>
          <p:nvPr/>
        </p:nvGrpSpPr>
        <p:grpSpPr>
          <a:xfrm>
            <a:off x="7359231" y="3949242"/>
            <a:ext cx="3569537" cy="3569537"/>
            <a:chOff x="0" y="0"/>
            <a:chExt cx="812800" cy="812800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19549B69-9DB2-4091-9439-1D63C7EF5A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28ACC">
                    <a:alpha val="100000"/>
                  </a:srgbClr>
                </a:gs>
                <a:gs pos="100000">
                  <a:srgbClr val="8399D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67BA74F1-978F-47A6-9139-0C0BDFFD4532}"/>
                </a:ext>
              </a:extLst>
            </p:cNvPr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7" name="TextBox 15"/>
          <p:cNvSpPr txBox="1"/>
          <p:nvPr/>
        </p:nvSpPr>
        <p:spPr>
          <a:xfrm>
            <a:off x="7943847" y="5189822"/>
            <a:ext cx="2400301" cy="113477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  <a:defRPr/>
            </a:pPr>
            <a:r>
              <a:rPr lang="ko-KR" altLang="en-US" sz="3600" b="1">
                <a:solidFill>
                  <a:schemeClr val="lt1"/>
                </a:solidFill>
                <a:latin typeface="굴림"/>
                <a:ea typeface="굴림"/>
                <a:cs typeface="각진펜 Bold"/>
                <a:sym typeface="각진펜 Bold"/>
                <a:hlinkClick r:id="rId3"/>
              </a:rPr>
              <a:t>제작</a:t>
            </a:r>
            <a:r>
              <a:rPr lang="ko-KR" altLang="en-US" sz="3600" b="1">
                <a:solidFill>
                  <a:schemeClr val="tx2">
                    <a:lumMod val="75000"/>
                  </a:schemeClr>
                </a:solidFill>
                <a:latin typeface="굴림"/>
                <a:ea typeface="굴림"/>
                <a:cs typeface="각진펜 Bold"/>
                <a:sym typeface="각진펜 Bold"/>
                <a:hlinkClick r:id="rId3"/>
              </a:rPr>
              <a:t> 툴</a:t>
            </a:r>
            <a:endParaRPr lang="ko-KR" altLang="en-US" sz="3600" b="1">
              <a:solidFill>
                <a:schemeClr val="tx2">
                  <a:lumMod val="75000"/>
                </a:schemeClr>
              </a:solidFill>
              <a:latin typeface="굴림"/>
              <a:ea typeface="굴림"/>
              <a:cs typeface="각진펜 Bold"/>
              <a:sym typeface="각진펜 Bold"/>
            </a:endParaRPr>
          </a:p>
          <a:p>
            <a:pPr marL="0" lvl="0" indent="0" algn="ctr">
              <a:lnSpc>
                <a:spcPts val="4480"/>
              </a:lnSpc>
              <a:spcBef>
                <a:spcPct val="0"/>
              </a:spcBef>
              <a:defRPr/>
            </a:pPr>
            <a:r>
              <a:rPr lang="ko-KR" altLang="en-US" sz="3600" b="1">
                <a:solidFill>
                  <a:schemeClr val="tx2">
                    <a:lumMod val="75000"/>
                  </a:schemeClr>
                </a:solidFill>
                <a:latin typeface="굴림"/>
                <a:ea typeface="굴림"/>
                <a:cs typeface="각진펜 Bold"/>
                <a:sym typeface="각진펜 Bold"/>
                <a:hlinkClick r:id="rId3"/>
              </a:rPr>
              <a:t>프롬포트</a:t>
            </a:r>
            <a:r>
              <a:rPr lang="ko-KR" altLang="en-US" sz="3600" b="1">
                <a:solidFill>
                  <a:schemeClr val="tx2">
                    <a:lumMod val="75000"/>
                  </a:schemeClr>
                </a:solidFill>
                <a:latin typeface="굴림"/>
                <a:ea typeface="굴림"/>
                <a:cs typeface="각진펜 Bold"/>
                <a:sym typeface="각진펜 Bold"/>
              </a:rPr>
              <a:t> </a:t>
            </a:r>
            <a:endParaRPr lang="en-US" sz="3600" b="1">
              <a:solidFill>
                <a:schemeClr val="tx2">
                  <a:lumMod val="75000"/>
                </a:schemeClr>
              </a:solidFill>
              <a:latin typeface="굴림"/>
              <a:ea typeface="굴림"/>
              <a:cs typeface="각진펜 Bold"/>
              <a:sym typeface="각진펜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755984" y="1806684"/>
            <a:ext cx="992725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중학생이 따라하기 가이드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359231" y="3949242"/>
            <a:ext cx="3569537" cy="356953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28ACC">
                    <a:alpha val="100000"/>
                  </a:srgbClr>
                </a:gs>
                <a:gs pos="100000">
                  <a:srgbClr val="8399D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4" name="TextBox 15">
            <a:extLst>
              <a:ext uri="{FF2B5EF4-FFF2-40B4-BE49-F238E27FC236}">
                <a16:creationId xmlns:a16="http://schemas.microsoft.com/office/drawing/2014/main" id="{4EEDCB13-3DD2-4BFF-A144-A355CDC1CC46}"/>
              </a:ext>
            </a:extLst>
          </p:cNvPr>
          <p:cNvSpPr txBox="1"/>
          <p:nvPr/>
        </p:nvSpPr>
        <p:spPr>
          <a:xfrm>
            <a:off x="8343899" y="5456049"/>
            <a:ext cx="1600200" cy="555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  <a:hlinkClick r:id="rId4"/>
              </a:rPr>
              <a:t>가이드</a:t>
            </a:r>
            <a:endParaRPr lang="en-US" sz="3200" b="1" dirty="0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755984" y="1806684"/>
            <a:ext cx="9927252" cy="565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  <a:defRPr/>
            </a:pPr>
            <a:r>
              <a:rPr lang="ko-KR" alt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호스팅 가이드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359231" y="3949242"/>
            <a:ext cx="3569537" cy="356953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28ACC">
                    <a:alpha val="100000"/>
                  </a:srgbClr>
                </a:gs>
                <a:gs pos="100000">
                  <a:srgbClr val="8399D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4" name="TextBox 15">
            <a:extLst>
              <a:ext uri="{FF2B5EF4-FFF2-40B4-BE49-F238E27FC236}">
                <a16:creationId xmlns:a16="http://schemas.microsoft.com/office/drawing/2014/main" id="{4EEDCB13-3DD2-4BFF-A144-A355CDC1CC46}"/>
              </a:ext>
            </a:extLst>
          </p:cNvPr>
          <p:cNvSpPr txBox="1"/>
          <p:nvPr/>
        </p:nvSpPr>
        <p:spPr>
          <a:xfrm>
            <a:off x="8343899" y="5456049"/>
            <a:ext cx="1600200" cy="555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  <a:hlinkClick r:id="rId4"/>
              </a:rPr>
              <a:t>가이드</a:t>
            </a:r>
            <a:endParaRPr lang="en-US" sz="3200" b="1" dirty="0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  <p:extLst>
      <p:ext uri="{BB962C8B-B14F-4D97-AF65-F5344CB8AC3E}">
        <p14:creationId xmlns:p14="http://schemas.microsoft.com/office/powerpoint/2010/main" val="2312529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755984" y="1806684"/>
            <a:ext cx="9927252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실제 앱 실행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041048" y="4219979"/>
            <a:ext cx="4205904" cy="3057121"/>
            <a:chOff x="0" y="0"/>
            <a:chExt cx="2488184" cy="14912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88184" cy="1491234"/>
            </a:xfrm>
            <a:custGeom>
              <a:avLst/>
              <a:gdLst/>
              <a:ahLst/>
              <a:cxnLst/>
              <a:rect l="l" t="t" r="r" b="b"/>
              <a:pathLst>
                <a:path w="2488184" h="1491234">
                  <a:moveTo>
                    <a:pt x="2488184" y="13931"/>
                  </a:moveTo>
                  <a:lnTo>
                    <a:pt x="2488184" y="1477303"/>
                  </a:lnTo>
                  <a:cubicBezTo>
                    <a:pt x="2488184" y="1480998"/>
                    <a:pt x="2486716" y="1484541"/>
                    <a:pt x="2484104" y="1487154"/>
                  </a:cubicBezTo>
                  <a:cubicBezTo>
                    <a:pt x="2481491" y="1489766"/>
                    <a:pt x="2477948" y="1491234"/>
                    <a:pt x="2474253" y="1491234"/>
                  </a:cubicBezTo>
                  <a:lnTo>
                    <a:pt x="13931" y="1491234"/>
                  </a:lnTo>
                  <a:cubicBezTo>
                    <a:pt x="10236" y="1491234"/>
                    <a:pt x="6693" y="1489766"/>
                    <a:pt x="4080" y="1487154"/>
                  </a:cubicBezTo>
                  <a:cubicBezTo>
                    <a:pt x="1468" y="1484541"/>
                    <a:pt x="0" y="1480998"/>
                    <a:pt x="0" y="1477303"/>
                  </a:cubicBezTo>
                  <a:lnTo>
                    <a:pt x="0" y="13931"/>
                  </a:lnTo>
                  <a:cubicBezTo>
                    <a:pt x="0" y="10236"/>
                    <a:pt x="1468" y="6693"/>
                    <a:pt x="4080" y="4080"/>
                  </a:cubicBezTo>
                  <a:cubicBezTo>
                    <a:pt x="6693" y="1468"/>
                    <a:pt x="10236" y="0"/>
                    <a:pt x="13931" y="0"/>
                  </a:cubicBezTo>
                  <a:lnTo>
                    <a:pt x="2474253" y="0"/>
                  </a:lnTo>
                  <a:cubicBezTo>
                    <a:pt x="2477948" y="0"/>
                    <a:pt x="2481491" y="1468"/>
                    <a:pt x="2484104" y="4080"/>
                  </a:cubicBezTo>
                  <a:cubicBezTo>
                    <a:pt x="2486716" y="6693"/>
                    <a:pt x="2488184" y="10236"/>
                    <a:pt x="2488184" y="13931"/>
                  </a:cubicBezTo>
                  <a:close/>
                </a:path>
              </a:pathLst>
            </a:custGeom>
            <a:solidFill>
              <a:srgbClr val="E6EAF5">
                <a:alpha val="50980"/>
              </a:srgbClr>
            </a:solidFill>
            <a:ln w="38100" cap="sq">
              <a:solidFill>
                <a:srgbClr val="000000">
                  <a:alpha val="50980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2488184" cy="1567434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359"/>
                </a:lnSpc>
                <a:defRPr/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007100" y="5143500"/>
            <a:ext cx="6273800" cy="9620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>
              <a:lnSpc>
                <a:spcPts val="7558"/>
              </a:lnSpc>
              <a:spcBef>
                <a:spcPct val="0"/>
              </a:spcBef>
              <a:defRPr/>
            </a:pPr>
            <a:r>
              <a:rPr lang="ko-KR" altLang="en-US" sz="3200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  <a:hlinkClick r:id="rId4"/>
              </a:rPr>
              <a:t>실제 시연</a:t>
            </a:r>
            <a:endParaRPr lang="en-US" sz="3200" b="1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:dsp="http://schemas.microsoft.com/office/drawing/2008/diagram" xmlns:dgm="http://schemas.openxmlformats.org/drawingml/2006/diagram" xmlns:c="http://schemas.openxmlformats.org/drawingml/2006/chart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755984" y="2702801"/>
            <a:ext cx="14776033" cy="0"/>
          </a:xfrm>
          <a:prstGeom prst="line">
            <a:avLst/>
          </a:prstGeom>
          <a:ln w="9525" cap="rnd">
            <a:solidFill>
              <a:srgbClr val="728AC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755984" y="3820125"/>
            <a:ext cx="6325766" cy="2558556"/>
            <a:chOff x="0" y="-440233"/>
            <a:chExt cx="8434355" cy="3411408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-440233"/>
              <a:ext cx="8434355" cy="3411408"/>
              <a:chOff x="0" y="-83106"/>
              <a:chExt cx="1592216" cy="64399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-83106"/>
                <a:ext cx="1592216" cy="560891"/>
              </a:xfrm>
              <a:custGeom>
                <a:avLst/>
                <a:gdLst/>
                <a:ahLst/>
                <a:cxnLst/>
                <a:rect l="l" t="t" r="r" b="b"/>
                <a:pathLst>
                  <a:path w="1592216" h="560891">
                    <a:moveTo>
                      <a:pt x="0" y="0"/>
                    </a:moveTo>
                    <a:lnTo>
                      <a:pt x="1592216" y="0"/>
                    </a:lnTo>
                    <a:lnTo>
                      <a:pt x="1592216" y="560891"/>
                    </a:lnTo>
                    <a:lnTo>
                      <a:pt x="0" y="56089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76200"/>
                <a:ext cx="1592216" cy="637091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lvl="0" algn="ctr">
                  <a:lnSpc>
                    <a:spcPts val="3359"/>
                  </a:lnSpc>
                  <a:defRPr/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01384" y="156983"/>
              <a:ext cx="7631586" cy="1691023"/>
            </a:xfrm>
            <a:prstGeom prst="rect">
              <a:avLst/>
            </a:prstGeom>
          </p:spPr>
          <p:txBody>
            <a:bodyPr lIns="0" tIns="0" rIns="0" bIns="0" anchor="t">
              <a:spAutoFit/>
            </a:bodyPr>
            <a:lstStyle/>
            <a:p>
              <a:pPr marL="474413" lvl="1" indent="-237207" algn="l">
                <a:lnSpc>
                  <a:spcPts val="3515"/>
                </a:lnSpc>
                <a:buFont typeface="Arial"/>
                <a:buChar char="•"/>
                <a:defRPr/>
              </a:pPr>
              <a:r>
                <a:rPr lang="en-US" sz="2197" spc="-65">
                  <a:solidFill>
                    <a:srgbClr val="728ACC"/>
                  </a:solidFill>
                  <a:latin typeface="윤고딕"/>
                  <a:ea typeface="윤고딕"/>
                  <a:cs typeface="윤고딕"/>
                  <a:sym typeface="윤고딕"/>
                </a:rPr>
                <a:t>•3일 만에 완성도 높은 모바일 게임 완성</a:t>
              </a:r>
            </a:p>
            <a:p>
              <a:pPr marL="474413" lvl="1" indent="-237207" algn="l">
                <a:lnSpc>
                  <a:spcPts val="3515"/>
                </a:lnSpc>
                <a:buFont typeface="Arial"/>
                <a:buChar char="•"/>
                <a:defRPr/>
              </a:pPr>
              <a:r>
                <a:rPr lang="en-US" sz="2197" spc="-65">
                  <a:solidFill>
                    <a:srgbClr val="728ACC"/>
                  </a:solidFill>
                  <a:latin typeface="윤고딕"/>
                  <a:ea typeface="윤고딕"/>
                  <a:cs typeface="윤고딕"/>
                  <a:sym typeface="윤고딕"/>
                </a:rPr>
                <a:t>•42종 카드, 14개 보상, 10종 애니메이션 구현</a:t>
              </a:r>
            </a:p>
            <a:p>
              <a:pPr marL="474413" lvl="1" indent="-237207" algn="l">
                <a:lnSpc>
                  <a:spcPts val="3515"/>
                </a:lnSpc>
                <a:buFont typeface="Arial"/>
                <a:buChar char="•"/>
                <a:defRPr/>
              </a:pPr>
              <a:r>
                <a:rPr lang="en-US" sz="2197" spc="-65">
                  <a:solidFill>
                    <a:srgbClr val="728ACC"/>
                  </a:solidFill>
                  <a:latin typeface="윤고딕"/>
                  <a:ea typeface="윤고딕"/>
                  <a:cs typeface="윤고딕"/>
                  <a:sym typeface="윤고딕"/>
                </a:rPr>
                <a:t>•GitHub Pages로 실제 배포 완료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048716" y="3820125"/>
            <a:ext cx="5243618" cy="183008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713"/>
              </a:lnSpc>
              <a:defRPr/>
            </a:pPr>
            <a:r>
              <a:rPr lang="en-US" sz="2320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•AI 활용: 프롬프트 엔지니어링의 중요성</a:t>
            </a:r>
          </a:p>
          <a:p>
            <a:pPr lvl="0" algn="l">
              <a:lnSpc>
                <a:spcPts val="3713"/>
              </a:lnSpc>
              <a:defRPr/>
            </a:pPr>
            <a:r>
              <a:rPr lang="en-US" sz="2320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•협업:명확한 역할 분담과 소통</a:t>
            </a:r>
          </a:p>
          <a:p>
            <a:pPr lvl="0" algn="l">
              <a:lnSpc>
                <a:spcPts val="3713"/>
              </a:lnSpc>
              <a:defRPr/>
            </a:pPr>
            <a:r>
              <a:rPr lang="en-US" sz="2320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•기획:차별화 포인트의 필요성</a:t>
            </a:r>
          </a:p>
          <a:p>
            <a:pPr lvl="0" algn="l">
              <a:lnSpc>
                <a:spcPts val="3713"/>
              </a:lnSpc>
              <a:defRPr/>
            </a:pPr>
            <a:r>
              <a:rPr lang="en-US" sz="2320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•완성도:디테일이 만드는 차이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55984" y="1806684"/>
            <a:ext cx="9927252" cy="55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ko-KR" altLang="en-US" sz="3200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느낀점</a:t>
            </a:r>
            <a:endParaRPr lang="en-US" sz="3200" b="1" dirty="0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55984" y="3009900"/>
            <a:ext cx="7060625" cy="47180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&gt;&gt; 프로젝트 성과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43411" y="3009900"/>
            <a:ext cx="7060625" cy="47180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&gt;&gt; 배운 점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1766948" y="6362700"/>
            <a:ext cx="7060625" cy="4828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918"/>
              </a:lnSpc>
              <a:spcBef>
                <a:spcPct val="0"/>
              </a:spcBef>
              <a:defRPr/>
            </a:pPr>
            <a:r>
              <a:rPr lang="en-US" sz="2799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&gt;&gt; </a:t>
            </a:r>
            <a:r>
              <a:rPr lang="ko-KR" altLang="en-US" sz="2799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힘들었던 점 </a:t>
            </a:r>
            <a:r>
              <a:rPr lang="en-US" altLang="ko-KR" sz="2799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&amp; </a:t>
            </a:r>
            <a:r>
              <a:rPr lang="ko-KR" altLang="en-US" sz="2799" b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극복 방법</a:t>
            </a:r>
            <a:endParaRPr lang="en-US" sz="2799" b="1">
              <a:solidFill>
                <a:srgbClr val="728ACC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9" name="TextBox 14"/>
          <p:cNvSpPr txBox="1"/>
          <p:nvPr/>
        </p:nvSpPr>
        <p:spPr>
          <a:xfrm>
            <a:off x="1766948" y="6990185"/>
            <a:ext cx="9739252" cy="140134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ts val="3713"/>
              </a:lnSpc>
              <a:defRPr/>
            </a:pPr>
            <a:r>
              <a:rPr lang="ko-KR" altLang="en-US" sz="2320" b="1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문제</a:t>
            </a:r>
            <a:r>
              <a:rPr lang="en-US" altLang="ko-KR" sz="2320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: </a:t>
            </a:r>
            <a:r>
              <a:rPr lang="ko-KR" altLang="en-US" sz="2320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일정과 업무 분담 관련 의사소통 부족</a:t>
            </a:r>
          </a:p>
          <a:p>
            <a:pPr lvl="0">
              <a:lnSpc>
                <a:spcPts val="3713"/>
              </a:lnSpc>
              <a:defRPr/>
            </a:pPr>
            <a:r>
              <a:rPr lang="ko-KR" altLang="en-US" sz="2320" b="1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해결 방법</a:t>
            </a:r>
            <a:r>
              <a:rPr lang="en-US" altLang="ko-KR" sz="2320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: </a:t>
            </a:r>
            <a:r>
              <a:rPr lang="ko-KR" altLang="en-US" sz="2320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팀 회의와 단체 채팅과 통화를 통해 진행 상황을 지속적으로 공유하여 소통 오류를 최소화하고 협업 효율을 높임</a:t>
            </a:r>
            <a:r>
              <a:rPr lang="en-US" altLang="ko-KR" sz="2320" spc="-69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.</a:t>
            </a:r>
            <a:endParaRPr lang="en-US" sz="2320" spc="-69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CE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7864"/>
            <a:ext cx="16230600" cy="8840436"/>
            <a:chOff x="0" y="0"/>
            <a:chExt cx="21640800" cy="117872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14448"/>
              <a:ext cx="21640800" cy="10972800"/>
              <a:chOff x="0" y="0"/>
              <a:chExt cx="4274726" cy="2167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27472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28ACC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27472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682475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9560591" y="0"/>
              <a:ext cx="1352999" cy="1141029"/>
            </a:xfrm>
            <a:custGeom>
              <a:avLst/>
              <a:gdLst/>
              <a:ahLst/>
              <a:cxnLst/>
              <a:rect l="l" t="t" r="r" b="b"/>
              <a:pathLst>
                <a:path w="1352999" h="1141029">
                  <a:moveTo>
                    <a:pt x="0" y="0"/>
                  </a:moveTo>
                  <a:lnTo>
                    <a:pt x="1352999" y="0"/>
                  </a:lnTo>
                  <a:lnTo>
                    <a:pt x="1352999" y="1141029"/>
                  </a:lnTo>
                  <a:lnTo>
                    <a:pt x="0" y="1141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032689" y="3361802"/>
            <a:ext cx="12222618" cy="148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79"/>
              </a:lnSpc>
            </a:pPr>
            <a:r>
              <a:rPr lang="en-US" sz="7861" b="1" dirty="0" err="1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감사합니다</a:t>
            </a:r>
            <a:r>
              <a:rPr lang="en-US" sz="7861" b="1" dirty="0">
                <a:solidFill>
                  <a:srgbClr val="728ACC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49697" y="5258937"/>
            <a:ext cx="6388605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 spc="-72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  Team </a:t>
            </a:r>
            <a:r>
              <a:rPr lang="en-US" sz="2400" spc="-72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GenCoder</a:t>
            </a:r>
            <a:endParaRPr lang="en-US" sz="2400" spc="-72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949696" y="5840542"/>
            <a:ext cx="6388605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 spc="-72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김 산, </a:t>
            </a:r>
            <a:r>
              <a:rPr lang="en-US" sz="2400" spc="-72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이예진</a:t>
            </a:r>
            <a:r>
              <a:rPr lang="en-US" sz="2400" spc="-72" dirty="0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, </a:t>
            </a:r>
            <a:r>
              <a:rPr lang="en-US" sz="2400" spc="-72" dirty="0" err="1">
                <a:solidFill>
                  <a:srgbClr val="728ACC"/>
                </a:solidFill>
                <a:latin typeface="윤고딕"/>
                <a:ea typeface="윤고딕"/>
                <a:cs typeface="윤고딕"/>
                <a:sym typeface="윤고딕"/>
              </a:rPr>
              <a:t>강민우</a:t>
            </a:r>
            <a:endParaRPr lang="en-US" sz="2400" spc="-72" dirty="0">
              <a:solidFill>
                <a:srgbClr val="728ACC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633</Words>
  <Application>Microsoft Office PowerPoint</Application>
  <PresentationFormat>사용자 지정</PresentationFormat>
  <Paragraphs>119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Source Han Serif KR</vt:lpstr>
      <vt:lpstr>각진펜</vt:lpstr>
      <vt:lpstr>각진펜 Bold</vt:lpstr>
      <vt:lpstr>굴림</vt:lpstr>
      <vt:lpstr>맑은 고딕</vt:lpstr>
      <vt:lpstr>윤고딕</vt:lpstr>
      <vt:lpstr>윤고딕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흰색 심플한 깔끔한 기획서 보고서 비즈니스 제안서 발표 강의 프레젠테이션 </dc:title>
  <cp:lastModifiedBy>USER</cp:lastModifiedBy>
  <cp:revision>14</cp:revision>
  <dcterms:created xsi:type="dcterms:W3CDTF">2006-08-16T00:00:00Z</dcterms:created>
  <dcterms:modified xsi:type="dcterms:W3CDTF">2025-11-12T05:37:31Z</dcterms:modified>
  <cp:version/>
</cp:coreProperties>
</file>