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70" r:id="rId6"/>
    <p:sldId id="262" r:id="rId7"/>
    <p:sldId id="263" r:id="rId8"/>
    <p:sldId id="265" r:id="rId9"/>
    <p:sldId id="264" r:id="rId10"/>
    <p:sldId id="261" r:id="rId11"/>
    <p:sldId id="268" r:id="rId12"/>
    <p:sldId id="269" r:id="rId13"/>
    <p:sldId id="271" r:id="rId14"/>
    <p:sldId id="266" r:id="rId15"/>
    <p:sldId id="267" r:id="rId16"/>
  </p:sldIdLst>
  <p:sldSz cx="18288000" cy="10287000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Nanum Square" panose="020B0600000101010101" charset="-127"/>
      <p:regular r:id="rId21"/>
    </p:embeddedFont>
    <p:embeddedFont>
      <p:font typeface="맑은 고딕" panose="020B0503020000020004" pitchFamily="50" charset="-127"/>
      <p:regular r:id="rId22"/>
      <p:bold r:id="rId23"/>
    </p:embeddedFont>
    <p:embeddedFont>
      <p:font typeface="Nanum Square Bold" panose="020B0600000101010101" charset="-127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C0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27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mipotapota.github.io/hybrid/test/index.html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otion.so/2aafc6e2f715803b95beff4e8b2f5eaf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otion.so/2aafc6e2f715803292a3e665700111f9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mipotapota.github.io/hybrid/1112/index.html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7601366" y="-146402"/>
            <a:ext cx="11988446" cy="10579804"/>
          </a:xfrm>
          <a:custGeom>
            <a:avLst/>
            <a:gdLst/>
            <a:ahLst/>
            <a:cxnLst/>
            <a:rect l="l" t="t" r="r" b="b"/>
            <a:pathLst>
              <a:path w="11988446" h="10579804">
                <a:moveTo>
                  <a:pt x="11988446" y="0"/>
                </a:moveTo>
                <a:lnTo>
                  <a:pt x="0" y="0"/>
                </a:lnTo>
                <a:lnTo>
                  <a:pt x="0" y="10579804"/>
                </a:lnTo>
                <a:lnTo>
                  <a:pt x="11988446" y="10579804"/>
                </a:lnTo>
                <a:lnTo>
                  <a:pt x="11988446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121159" y="1874604"/>
            <a:ext cx="11010900" cy="3662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ko-KR" altLang="en-US" sz="6800" dirty="0"/>
              <a:t>공공데이터와 </a:t>
            </a:r>
            <a:r>
              <a:rPr lang="en-US" altLang="ko-KR" sz="6800" dirty="0"/>
              <a:t>GPS</a:t>
            </a:r>
            <a:r>
              <a:rPr lang="ko-KR" altLang="en-US" sz="6800" dirty="0"/>
              <a:t>가 만난 나만의 러닝 </a:t>
            </a:r>
            <a:r>
              <a:rPr lang="ko-KR" altLang="en-US" sz="6800" dirty="0" err="1"/>
              <a:t>메이트</a:t>
            </a:r>
            <a:r>
              <a:rPr lang="en-US" altLang="ko-KR" sz="6800" dirty="0"/>
              <a:t>, </a:t>
            </a:r>
          </a:p>
          <a:p>
            <a:r>
              <a:rPr lang="en-US" altLang="ko-KR" sz="9800" b="1" dirty="0" err="1">
                <a:solidFill>
                  <a:srgbClr val="60C098"/>
                </a:solidFill>
              </a:rPr>
              <a:t>MoveON</a:t>
            </a:r>
            <a:endParaRPr lang="en-US" sz="9800" b="1" spc="-195" dirty="0">
              <a:solidFill>
                <a:srgbClr val="60C098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121159" y="5833601"/>
            <a:ext cx="9611217" cy="1569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/>
            <a:r>
              <a:rPr lang="ko-KR" altLang="en-US" sz="5100" dirty="0"/>
              <a:t>공공체육시설 정보 기반 운동 코스 추천 </a:t>
            </a:r>
            <a:r>
              <a:rPr lang="en-US" altLang="ko-KR" sz="5100" dirty="0"/>
              <a:t>&amp; </a:t>
            </a:r>
            <a:r>
              <a:rPr lang="ko-KR" altLang="en-US" sz="5100" dirty="0"/>
              <a:t>실시간 </a:t>
            </a:r>
            <a:r>
              <a:rPr lang="ko-KR" altLang="en-US" sz="5100" dirty="0" err="1"/>
              <a:t>트래킹</a:t>
            </a:r>
            <a:r>
              <a:rPr lang="ko-KR" altLang="en-US" sz="5100" dirty="0"/>
              <a:t> 솔루션</a:t>
            </a:r>
            <a:endParaRPr lang="ko-KR" altLang="ko-KR" sz="5100" dirty="0"/>
          </a:p>
        </p:txBody>
      </p:sp>
      <p:sp>
        <p:nvSpPr>
          <p:cNvPr id="5" name="TextBox 5"/>
          <p:cNvSpPr txBox="1"/>
          <p:nvPr/>
        </p:nvSpPr>
        <p:spPr>
          <a:xfrm>
            <a:off x="1295399" y="8386995"/>
            <a:ext cx="7029135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29"/>
              </a:lnSpc>
            </a:pPr>
            <a:r>
              <a:rPr lang="en-US" sz="3274" spc="-65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김 산, </a:t>
            </a:r>
            <a:r>
              <a:rPr lang="en-US" sz="3274" spc="-65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이예진</a:t>
            </a:r>
            <a:r>
              <a:rPr lang="en-US" sz="3274" spc="-65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, </a:t>
            </a:r>
            <a:r>
              <a:rPr lang="en-US" sz="3274" spc="-65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강민우</a:t>
            </a:r>
            <a:endParaRPr lang="en-US" sz="3274" spc="-65" dirty="0">
              <a:solidFill>
                <a:srgbClr val="323232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  <p:sp>
        <p:nvSpPr>
          <p:cNvPr id="6" name="AutoShape 6"/>
          <p:cNvSpPr/>
          <p:nvPr/>
        </p:nvSpPr>
        <p:spPr>
          <a:xfrm flipH="1">
            <a:off x="1199184" y="7878639"/>
            <a:ext cx="0" cy="1016712"/>
          </a:xfrm>
          <a:prstGeom prst="line">
            <a:avLst/>
          </a:prstGeom>
          <a:ln w="28575" cap="flat">
            <a:solidFill>
              <a:srgbClr val="3CB28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AE0D6EB-F0AF-4A31-AACA-E1D4D0E7DEB7}"/>
              </a:ext>
            </a:extLst>
          </p:cNvPr>
          <p:cNvSpPr txBox="1"/>
          <p:nvPr/>
        </p:nvSpPr>
        <p:spPr>
          <a:xfrm>
            <a:off x="1295398" y="7878504"/>
            <a:ext cx="7029135" cy="508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9"/>
              </a:lnSpc>
            </a:pPr>
            <a:r>
              <a:rPr lang="en-US" sz="3274" spc="-65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Team </a:t>
            </a:r>
            <a:r>
              <a:rPr lang="en-US" sz="3274" spc="-65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GenCoder</a:t>
            </a:r>
            <a:endParaRPr lang="en-US" sz="3274" spc="-65" dirty="0">
              <a:solidFill>
                <a:srgbClr val="323232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4096241"/>
            <a:ext cx="1261982" cy="12619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84738" y="2364558"/>
            <a:ext cx="19030880" cy="8189134"/>
            <a:chOff x="0" y="0"/>
            <a:chExt cx="3052336" cy="13134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52336" cy="1313444"/>
            </a:xfrm>
            <a:custGeom>
              <a:avLst/>
              <a:gdLst/>
              <a:ahLst/>
              <a:cxnLst/>
              <a:rect l="l" t="t" r="r" b="b"/>
              <a:pathLst>
                <a:path w="3052336" h="1313444">
                  <a:moveTo>
                    <a:pt x="0" y="0"/>
                  </a:moveTo>
                  <a:lnTo>
                    <a:pt x="3052336" y="0"/>
                  </a:lnTo>
                  <a:lnTo>
                    <a:pt x="3052336" y="1313444"/>
                  </a:lnTo>
                  <a:lnTo>
                    <a:pt x="0" y="1313444"/>
                  </a:lnTo>
                  <a:close/>
                </a:path>
              </a:pathLst>
            </a:custGeom>
            <a:solidFill>
              <a:srgbClr val="F0F0F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3052336" cy="13229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63258" y="2819368"/>
            <a:ext cx="15742484" cy="1648701"/>
            <a:chOff x="0" y="0"/>
            <a:chExt cx="2528906" cy="2648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28906" cy="264851"/>
            </a:xfrm>
            <a:custGeom>
              <a:avLst/>
              <a:gdLst/>
              <a:ahLst/>
              <a:cxnLst/>
              <a:rect l="l" t="t" r="r" b="b"/>
              <a:pathLst>
                <a:path w="2528906" h="264851">
                  <a:moveTo>
                    <a:pt x="0" y="0"/>
                  </a:moveTo>
                  <a:lnTo>
                    <a:pt x="2528906" y="0"/>
                  </a:lnTo>
                  <a:lnTo>
                    <a:pt x="2528906" y="264851"/>
                  </a:lnTo>
                  <a:lnTo>
                    <a:pt x="0" y="26485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528906" cy="274376"/>
            </a:xfrm>
            <a:prstGeom prst="rect">
              <a:avLst/>
            </a:prstGeom>
          </p:spPr>
          <p:txBody>
            <a:bodyPr lIns="51807" tIns="51807" rIns="51807" bIns="51807" rtlCol="0" anchor="ctr"/>
            <a:lstStyle/>
            <a:p>
              <a:pPr algn="ctr">
                <a:lnSpc>
                  <a:spcPts val="2427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63258" y="2819368"/>
            <a:ext cx="67362" cy="1648701"/>
            <a:chOff x="0" y="0"/>
            <a:chExt cx="10821" cy="26485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821" cy="264851"/>
            </a:xfrm>
            <a:custGeom>
              <a:avLst/>
              <a:gdLst/>
              <a:ahLst/>
              <a:cxnLst/>
              <a:rect l="l" t="t" r="r" b="b"/>
              <a:pathLst>
                <a:path w="10821" h="264851">
                  <a:moveTo>
                    <a:pt x="0" y="0"/>
                  </a:moveTo>
                  <a:lnTo>
                    <a:pt x="10821" y="0"/>
                  </a:lnTo>
                  <a:lnTo>
                    <a:pt x="10821" y="264851"/>
                  </a:lnTo>
                  <a:lnTo>
                    <a:pt x="0" y="264851"/>
                  </a:lnTo>
                  <a:close/>
                </a:path>
              </a:pathLst>
            </a:custGeom>
            <a:solidFill>
              <a:srgbClr val="3CB281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0821" cy="274376"/>
            </a:xfrm>
            <a:prstGeom prst="rect">
              <a:avLst/>
            </a:prstGeom>
          </p:spPr>
          <p:txBody>
            <a:bodyPr lIns="51807" tIns="51807" rIns="51807" bIns="51807" rtlCol="0" anchor="ctr"/>
            <a:lstStyle/>
            <a:p>
              <a:pPr algn="ctr">
                <a:lnSpc>
                  <a:spcPts val="2427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781118" y="2819368"/>
            <a:ext cx="67362" cy="1648701"/>
            <a:chOff x="0" y="0"/>
            <a:chExt cx="10821" cy="26485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821" cy="264851"/>
            </a:xfrm>
            <a:custGeom>
              <a:avLst/>
              <a:gdLst/>
              <a:ahLst/>
              <a:cxnLst/>
              <a:rect l="l" t="t" r="r" b="b"/>
              <a:pathLst>
                <a:path w="10821" h="264851">
                  <a:moveTo>
                    <a:pt x="0" y="0"/>
                  </a:moveTo>
                  <a:lnTo>
                    <a:pt x="10821" y="0"/>
                  </a:lnTo>
                  <a:lnTo>
                    <a:pt x="10821" y="264851"/>
                  </a:lnTo>
                  <a:lnTo>
                    <a:pt x="0" y="264851"/>
                  </a:lnTo>
                  <a:close/>
                </a:path>
              </a:pathLst>
            </a:custGeom>
            <a:solidFill>
              <a:srgbClr val="3CB281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0821" cy="274376"/>
            </a:xfrm>
            <a:prstGeom prst="rect">
              <a:avLst/>
            </a:prstGeom>
          </p:spPr>
          <p:txBody>
            <a:bodyPr lIns="51807" tIns="51807" rIns="51807" bIns="51807" rtlCol="0" anchor="ctr"/>
            <a:lstStyle/>
            <a:p>
              <a:pPr algn="ctr">
                <a:lnSpc>
                  <a:spcPts val="2427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975436" y="2998309"/>
            <a:ext cx="1314692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52"/>
              </a:lnSpc>
            </a:pPr>
            <a:r>
              <a:rPr lang="en-US" sz="3710" b="1" spc="-74">
                <a:solidFill>
                  <a:srgbClr val="32323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김 산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184274" y="3140029"/>
            <a:ext cx="10923186" cy="1032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13"/>
              </a:lnSpc>
            </a:pPr>
            <a:r>
              <a:rPr lang="en-US" sz="6677" b="1" spc="-133">
                <a:solidFill>
                  <a:srgbClr val="32323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기능 구현 및 레이아웃 작성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78220" y="1154463"/>
            <a:ext cx="5917036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4"/>
              </a:lnSpc>
            </a:pPr>
            <a:r>
              <a:rPr lang="en-US" sz="5203" b="1" spc="-104">
                <a:solidFill>
                  <a:srgbClr val="32323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역할소개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35370" y="715741"/>
            <a:ext cx="3327695" cy="351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6"/>
              </a:lnSpc>
            </a:pPr>
            <a:r>
              <a:rPr lang="en-US" sz="2314" spc="-46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00. </a:t>
            </a:r>
            <a:r>
              <a:rPr lang="en-US" sz="2314" spc="-46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팀원들의</a:t>
            </a:r>
            <a:r>
              <a:rPr lang="en-US" sz="2314" spc="-46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2314" spc="-46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역할</a:t>
            </a:r>
            <a:r>
              <a:rPr lang="en-US" sz="2314" spc="-46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2314" spc="-46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분담</a:t>
            </a:r>
            <a:endParaRPr lang="en-US" sz="2314" spc="-46" dirty="0">
              <a:solidFill>
                <a:srgbClr val="323232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-372308" y="-247428"/>
            <a:ext cx="902116" cy="10846078"/>
            <a:chOff x="0" y="0"/>
            <a:chExt cx="812800" cy="977224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9772240"/>
            </a:xfrm>
            <a:custGeom>
              <a:avLst/>
              <a:gdLst/>
              <a:ahLst/>
              <a:cxnLst/>
              <a:rect l="l" t="t" r="r" b="b"/>
              <a:pathLst>
                <a:path w="812800" h="9772240">
                  <a:moveTo>
                    <a:pt x="0" y="0"/>
                  </a:moveTo>
                  <a:lnTo>
                    <a:pt x="812800" y="0"/>
                  </a:lnTo>
                  <a:lnTo>
                    <a:pt x="812800" y="9772240"/>
                  </a:lnTo>
                  <a:lnTo>
                    <a:pt x="0" y="9772240"/>
                  </a:lnTo>
                  <a:close/>
                </a:path>
              </a:pathLst>
            </a:custGeom>
            <a:solidFill>
              <a:srgbClr val="3CB281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812800" cy="97912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6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929952" y="3624668"/>
            <a:ext cx="1487112" cy="576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49"/>
              </a:lnSpc>
            </a:pPr>
            <a:r>
              <a:rPr lang="en-US" sz="3707" b="1" spc="-74">
                <a:solidFill>
                  <a:srgbClr val="32323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이예진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435370" y="6144469"/>
            <a:ext cx="15742484" cy="1648701"/>
            <a:chOff x="0" y="0"/>
            <a:chExt cx="2528906" cy="26485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528906" cy="264851"/>
            </a:xfrm>
            <a:custGeom>
              <a:avLst/>
              <a:gdLst/>
              <a:ahLst/>
              <a:cxnLst/>
              <a:rect l="l" t="t" r="r" b="b"/>
              <a:pathLst>
                <a:path w="2528906" h="264851">
                  <a:moveTo>
                    <a:pt x="0" y="0"/>
                  </a:moveTo>
                  <a:lnTo>
                    <a:pt x="2528906" y="0"/>
                  </a:lnTo>
                  <a:lnTo>
                    <a:pt x="2528906" y="264851"/>
                  </a:lnTo>
                  <a:lnTo>
                    <a:pt x="0" y="26485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2528906" cy="274376"/>
            </a:xfrm>
            <a:prstGeom prst="rect">
              <a:avLst/>
            </a:prstGeom>
          </p:spPr>
          <p:txBody>
            <a:bodyPr lIns="51807" tIns="51807" rIns="51807" bIns="51807" rtlCol="0" anchor="ctr"/>
            <a:lstStyle/>
            <a:p>
              <a:pPr algn="ctr">
                <a:lnSpc>
                  <a:spcPts val="2427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435370" y="6144469"/>
            <a:ext cx="67362" cy="1648701"/>
            <a:chOff x="0" y="0"/>
            <a:chExt cx="10821" cy="26485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821" cy="264851"/>
            </a:xfrm>
            <a:custGeom>
              <a:avLst/>
              <a:gdLst/>
              <a:ahLst/>
              <a:cxnLst/>
              <a:rect l="l" t="t" r="r" b="b"/>
              <a:pathLst>
                <a:path w="10821" h="264851">
                  <a:moveTo>
                    <a:pt x="0" y="0"/>
                  </a:moveTo>
                  <a:lnTo>
                    <a:pt x="10821" y="0"/>
                  </a:lnTo>
                  <a:lnTo>
                    <a:pt x="10821" y="264851"/>
                  </a:lnTo>
                  <a:lnTo>
                    <a:pt x="0" y="264851"/>
                  </a:lnTo>
                  <a:close/>
                </a:path>
              </a:pathLst>
            </a:custGeom>
            <a:solidFill>
              <a:srgbClr val="3CB281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10821" cy="274376"/>
            </a:xfrm>
            <a:prstGeom prst="rect">
              <a:avLst/>
            </a:prstGeom>
          </p:spPr>
          <p:txBody>
            <a:bodyPr lIns="51807" tIns="51807" rIns="51807" bIns="51807" rtlCol="0" anchor="ctr"/>
            <a:lstStyle/>
            <a:p>
              <a:pPr algn="ctr">
                <a:lnSpc>
                  <a:spcPts val="2427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753231" y="6144469"/>
            <a:ext cx="67362" cy="1648701"/>
            <a:chOff x="0" y="0"/>
            <a:chExt cx="10821" cy="264851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821" cy="264851"/>
            </a:xfrm>
            <a:custGeom>
              <a:avLst/>
              <a:gdLst/>
              <a:ahLst/>
              <a:cxnLst/>
              <a:rect l="l" t="t" r="r" b="b"/>
              <a:pathLst>
                <a:path w="10821" h="264851">
                  <a:moveTo>
                    <a:pt x="0" y="0"/>
                  </a:moveTo>
                  <a:lnTo>
                    <a:pt x="10821" y="0"/>
                  </a:lnTo>
                  <a:lnTo>
                    <a:pt x="10821" y="264851"/>
                  </a:lnTo>
                  <a:lnTo>
                    <a:pt x="0" y="264851"/>
                  </a:lnTo>
                  <a:close/>
                </a:path>
              </a:pathLst>
            </a:custGeom>
            <a:solidFill>
              <a:srgbClr val="3CB281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9525"/>
              <a:ext cx="10821" cy="274376"/>
            </a:xfrm>
            <a:prstGeom prst="rect">
              <a:avLst/>
            </a:prstGeom>
          </p:spPr>
          <p:txBody>
            <a:bodyPr lIns="51807" tIns="51807" rIns="51807" bIns="51807" rtlCol="0" anchor="ctr"/>
            <a:lstStyle/>
            <a:p>
              <a:pPr algn="ctr">
                <a:lnSpc>
                  <a:spcPts val="2427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947549" y="6323410"/>
            <a:ext cx="1314692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52"/>
              </a:lnSpc>
            </a:pPr>
            <a:r>
              <a:rPr lang="en-US" sz="3710" b="1" spc="-74">
                <a:solidFill>
                  <a:srgbClr val="32323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강민우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156386" y="6465131"/>
            <a:ext cx="10923186" cy="1032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13"/>
              </a:lnSpc>
            </a:pPr>
            <a:r>
              <a:rPr lang="en-US" sz="6677" b="1" spc="-133">
                <a:solidFill>
                  <a:srgbClr val="32323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문서 작성 및 PPT작성후 발표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902064" y="6949770"/>
            <a:ext cx="1487112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49"/>
              </a:lnSpc>
            </a:pPr>
            <a:endParaRPr lang="en-US" sz="3707" b="1" u="sng" spc="-74" dirty="0">
              <a:solidFill>
                <a:srgbClr val="FF0808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84738" y="2364558"/>
            <a:ext cx="19030880" cy="8189134"/>
            <a:chOff x="0" y="0"/>
            <a:chExt cx="3052336" cy="13134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52336" cy="1313444"/>
            </a:xfrm>
            <a:custGeom>
              <a:avLst/>
              <a:gdLst/>
              <a:ahLst/>
              <a:cxnLst/>
              <a:rect l="l" t="t" r="r" b="b"/>
              <a:pathLst>
                <a:path w="3052336" h="1313444">
                  <a:moveTo>
                    <a:pt x="0" y="0"/>
                  </a:moveTo>
                  <a:lnTo>
                    <a:pt x="3052336" y="0"/>
                  </a:lnTo>
                  <a:lnTo>
                    <a:pt x="3052336" y="1313444"/>
                  </a:lnTo>
                  <a:lnTo>
                    <a:pt x="0" y="1313444"/>
                  </a:lnTo>
                  <a:close/>
                </a:path>
              </a:pathLst>
            </a:custGeom>
            <a:solidFill>
              <a:srgbClr val="F0F0F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3052336" cy="13229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30620" y="3000790"/>
            <a:ext cx="4989332" cy="6047960"/>
            <a:chOff x="0" y="0"/>
            <a:chExt cx="1276184" cy="154696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76184" cy="1546963"/>
            </a:xfrm>
            <a:custGeom>
              <a:avLst/>
              <a:gdLst/>
              <a:ahLst/>
              <a:cxnLst/>
              <a:rect l="l" t="t" r="r" b="b"/>
              <a:pathLst>
                <a:path w="1276184" h="1546963">
                  <a:moveTo>
                    <a:pt x="0" y="0"/>
                  </a:moveTo>
                  <a:lnTo>
                    <a:pt x="1276184" y="0"/>
                  </a:lnTo>
                  <a:lnTo>
                    <a:pt x="1276184" y="1546963"/>
                  </a:lnTo>
                  <a:lnTo>
                    <a:pt x="0" y="154696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276184" cy="1556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7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30620" y="3000790"/>
            <a:ext cx="4989332" cy="144494"/>
            <a:chOff x="0" y="0"/>
            <a:chExt cx="1276184" cy="3695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76184" cy="36959"/>
            </a:xfrm>
            <a:custGeom>
              <a:avLst/>
              <a:gdLst/>
              <a:ahLst/>
              <a:cxnLst/>
              <a:rect l="l" t="t" r="r" b="b"/>
              <a:pathLst>
                <a:path w="1276184" h="36959">
                  <a:moveTo>
                    <a:pt x="0" y="0"/>
                  </a:moveTo>
                  <a:lnTo>
                    <a:pt x="1276184" y="0"/>
                  </a:lnTo>
                  <a:lnTo>
                    <a:pt x="1276184" y="36959"/>
                  </a:lnTo>
                  <a:lnTo>
                    <a:pt x="0" y="36959"/>
                  </a:lnTo>
                  <a:close/>
                </a:path>
              </a:pathLst>
            </a:custGeom>
            <a:solidFill>
              <a:srgbClr val="3CB281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276184" cy="464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7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733463" y="3000790"/>
            <a:ext cx="10525837" cy="6047960"/>
            <a:chOff x="0" y="0"/>
            <a:chExt cx="2692326" cy="15469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692326" cy="1546963"/>
            </a:xfrm>
            <a:custGeom>
              <a:avLst/>
              <a:gdLst/>
              <a:ahLst/>
              <a:cxnLst/>
              <a:rect l="l" t="t" r="r" b="b"/>
              <a:pathLst>
                <a:path w="2692326" h="1546963">
                  <a:moveTo>
                    <a:pt x="0" y="0"/>
                  </a:moveTo>
                  <a:lnTo>
                    <a:pt x="2692326" y="0"/>
                  </a:lnTo>
                  <a:lnTo>
                    <a:pt x="2692326" y="1546963"/>
                  </a:lnTo>
                  <a:lnTo>
                    <a:pt x="0" y="154696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2692326" cy="1556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7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733463" y="3000790"/>
            <a:ext cx="10525837" cy="144494"/>
            <a:chOff x="0" y="0"/>
            <a:chExt cx="2692326" cy="3695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692326" cy="36959"/>
            </a:xfrm>
            <a:custGeom>
              <a:avLst/>
              <a:gdLst/>
              <a:ahLst/>
              <a:cxnLst/>
              <a:rect l="l" t="t" r="r" b="b"/>
              <a:pathLst>
                <a:path w="2692326" h="36959">
                  <a:moveTo>
                    <a:pt x="0" y="0"/>
                  </a:moveTo>
                  <a:lnTo>
                    <a:pt x="2692326" y="0"/>
                  </a:lnTo>
                  <a:lnTo>
                    <a:pt x="2692326" y="36959"/>
                  </a:lnTo>
                  <a:lnTo>
                    <a:pt x="0" y="36959"/>
                  </a:lnTo>
                  <a:close/>
                </a:path>
              </a:pathLst>
            </a:custGeom>
            <a:solidFill>
              <a:srgbClr val="C3C3C3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2692326" cy="464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7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6614626" y="9499879"/>
            <a:ext cx="495866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37"/>
              </a:lnSpc>
            </a:pPr>
            <a:r>
              <a:rPr lang="en-US" sz="1281" spc="-25">
                <a:solidFill>
                  <a:srgbClr val="545454"/>
                </a:solidFill>
                <a:latin typeface="Nanum Square"/>
                <a:ea typeface="Nanum Square"/>
                <a:cs typeface="Nanum Square"/>
                <a:sym typeface="Nanum Square"/>
              </a:rPr>
              <a:t>00</a:t>
            </a:r>
          </a:p>
        </p:txBody>
      </p:sp>
      <p:sp>
        <p:nvSpPr>
          <p:cNvPr id="18" name="AutoShape 18"/>
          <p:cNvSpPr/>
          <p:nvPr/>
        </p:nvSpPr>
        <p:spPr>
          <a:xfrm flipH="1">
            <a:off x="1368008" y="9614179"/>
            <a:ext cx="15246618" cy="0"/>
          </a:xfrm>
          <a:prstGeom prst="line">
            <a:avLst/>
          </a:prstGeom>
          <a:ln w="9525" cap="flat">
            <a:solidFill>
              <a:srgbClr val="545454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2259454" y="5139225"/>
            <a:ext cx="3684146" cy="11723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043"/>
              </a:lnSpc>
            </a:pPr>
            <a:r>
              <a:rPr lang="en-US" sz="7536" b="1" spc="-150" dirty="0" err="1">
                <a:solidFill>
                  <a:srgbClr val="3CB281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MoveON</a:t>
            </a:r>
            <a:endParaRPr lang="en-US" sz="7536" b="1" spc="-150" dirty="0">
              <a:solidFill>
                <a:srgbClr val="3CB281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2259454" y="6157126"/>
            <a:ext cx="3607946" cy="8701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79"/>
              </a:lnSpc>
            </a:pPr>
            <a:r>
              <a:rPr lang="ko-KR" altLang="en-US" sz="2500" dirty="0"/>
              <a:t>공공데이터와 </a:t>
            </a:r>
            <a:r>
              <a:rPr lang="en-US" altLang="ko-KR" sz="2500" dirty="0"/>
              <a:t>GPS</a:t>
            </a:r>
            <a:r>
              <a:rPr lang="ko-KR" altLang="en-US" sz="2500" dirty="0"/>
              <a:t>가 만난 나만의 러닝 </a:t>
            </a:r>
            <a:r>
              <a:rPr lang="ko-KR" altLang="en-US" sz="2500" dirty="0" err="1"/>
              <a:t>메이트</a:t>
            </a:r>
            <a:endParaRPr lang="en-US" sz="2500" b="1" spc="-57" dirty="0">
              <a:solidFill>
                <a:srgbClr val="3CB281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378220" y="1154463"/>
            <a:ext cx="10173881" cy="353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/>
            <a:r>
              <a:rPr lang="ko-KR" altLang="ko-KR" sz="2300" b="1" dirty="0"/>
              <a:t>제목</a:t>
            </a:r>
            <a:r>
              <a:rPr lang="en-US" altLang="ko-KR" sz="2300" b="1" dirty="0"/>
              <a:t>: "</a:t>
            </a:r>
            <a:r>
              <a:rPr lang="ko-KR" altLang="en-US" sz="2300" b="1" dirty="0"/>
              <a:t>운동</a:t>
            </a:r>
            <a:r>
              <a:rPr lang="en-US" altLang="ko-KR" sz="2300" b="1" dirty="0"/>
              <a:t>, </a:t>
            </a:r>
            <a:r>
              <a:rPr lang="ko-KR" altLang="en-US" sz="2300" b="1" dirty="0"/>
              <a:t>장소 찾기부터 막힌다면</a:t>
            </a:r>
            <a:r>
              <a:rPr lang="en-US" altLang="ko-KR" sz="2300" b="1" dirty="0"/>
              <a:t>?"</a:t>
            </a:r>
            <a:endParaRPr lang="ko-KR" altLang="ko-KR" sz="2300" b="1" dirty="0"/>
          </a:p>
        </p:txBody>
      </p:sp>
      <p:sp>
        <p:nvSpPr>
          <p:cNvPr id="22" name="TextBox 22"/>
          <p:cNvSpPr txBox="1"/>
          <p:nvPr/>
        </p:nvSpPr>
        <p:spPr>
          <a:xfrm>
            <a:off x="1435370" y="715741"/>
            <a:ext cx="3327695" cy="707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76"/>
              </a:lnSpc>
            </a:pPr>
            <a:r>
              <a:rPr lang="en-US" sz="2314" spc="-46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01. </a:t>
            </a:r>
            <a:r>
              <a:rPr lang="ko-KR" altLang="ko-KR" sz="2310" b="1" dirty="0"/>
              <a:t>문제 제기</a:t>
            </a:r>
            <a:r>
              <a:rPr lang="en-US" altLang="ko-KR" sz="2310" b="1" dirty="0"/>
              <a:t> (Why?)</a:t>
            </a:r>
            <a:endParaRPr lang="ko-KR" altLang="ko-KR" sz="2310" b="1" dirty="0"/>
          </a:p>
          <a:p>
            <a:pPr algn="l">
              <a:lnSpc>
                <a:spcPts val="2776"/>
              </a:lnSpc>
            </a:pPr>
            <a:endParaRPr lang="en-US" sz="2314" spc="-46" dirty="0">
              <a:solidFill>
                <a:srgbClr val="323232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  <p:grpSp>
        <p:nvGrpSpPr>
          <p:cNvPr id="23" name="Group 23"/>
          <p:cNvGrpSpPr/>
          <p:nvPr/>
        </p:nvGrpSpPr>
        <p:grpSpPr>
          <a:xfrm>
            <a:off x="-372308" y="-247428"/>
            <a:ext cx="902116" cy="10846078"/>
            <a:chOff x="0" y="0"/>
            <a:chExt cx="812800" cy="977224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9772240"/>
            </a:xfrm>
            <a:custGeom>
              <a:avLst/>
              <a:gdLst/>
              <a:ahLst/>
              <a:cxnLst/>
              <a:rect l="l" t="t" r="r" b="b"/>
              <a:pathLst>
                <a:path w="812800" h="9772240">
                  <a:moveTo>
                    <a:pt x="0" y="0"/>
                  </a:moveTo>
                  <a:lnTo>
                    <a:pt x="812800" y="0"/>
                  </a:lnTo>
                  <a:lnTo>
                    <a:pt x="812800" y="9772240"/>
                  </a:lnTo>
                  <a:lnTo>
                    <a:pt x="0" y="9772240"/>
                  </a:lnTo>
                  <a:close/>
                </a:path>
              </a:pathLst>
            </a:custGeom>
            <a:solidFill>
              <a:srgbClr val="3CB281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812800" cy="97912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6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6878837" y="3368615"/>
            <a:ext cx="9735789" cy="5678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1"/>
            <a:r>
              <a:rPr lang="ko-KR" altLang="en-US" sz="4000" b="1" dirty="0"/>
              <a:t>정보의 부재</a:t>
            </a:r>
            <a:r>
              <a:rPr lang="en-US" altLang="ko-KR" sz="4000" b="1" dirty="0"/>
              <a:t>:</a:t>
            </a:r>
            <a:r>
              <a:rPr lang="ko-KR" altLang="en-US" sz="4000" dirty="0"/>
              <a:t> </a:t>
            </a:r>
            <a:r>
              <a:rPr lang="en-US" altLang="ko-KR" sz="4000" dirty="0"/>
              <a:t>"</a:t>
            </a:r>
            <a:r>
              <a:rPr lang="ko-KR" altLang="en-US" sz="4000" dirty="0"/>
              <a:t>내 주변에 </a:t>
            </a:r>
            <a:r>
              <a:rPr lang="ko-KR" altLang="en-US" sz="4000" dirty="0" err="1"/>
              <a:t>뛸만한</a:t>
            </a:r>
            <a:r>
              <a:rPr lang="ko-KR" altLang="en-US" sz="4000" dirty="0"/>
              <a:t> 트랙이나 </a:t>
            </a:r>
            <a:r>
              <a:rPr lang="ko-KR" altLang="en-US" sz="4000" dirty="0" err="1"/>
              <a:t>열려있는</a:t>
            </a:r>
            <a:r>
              <a:rPr lang="ko-KR" altLang="en-US" sz="4000" dirty="0"/>
              <a:t> 체육관은 어디 있지</a:t>
            </a:r>
            <a:r>
              <a:rPr lang="en-US" altLang="ko-KR" sz="4000" dirty="0"/>
              <a:t>?" </a:t>
            </a:r>
          </a:p>
          <a:p>
            <a:pPr lvl="1"/>
            <a:r>
              <a:rPr lang="ko-KR" altLang="en-US" sz="4000" b="1" dirty="0"/>
              <a:t>동기의 부족</a:t>
            </a:r>
            <a:r>
              <a:rPr lang="en-US" altLang="ko-KR" sz="4000" b="1" dirty="0"/>
              <a:t>:</a:t>
            </a:r>
            <a:r>
              <a:rPr lang="ko-KR" altLang="en-US" sz="4000" dirty="0"/>
              <a:t> </a:t>
            </a:r>
            <a:r>
              <a:rPr lang="en-US" altLang="ko-KR" sz="4000" dirty="0"/>
              <a:t>"</a:t>
            </a:r>
            <a:r>
              <a:rPr lang="ko-KR" altLang="en-US" sz="4000" dirty="0"/>
              <a:t>혼자 </a:t>
            </a:r>
            <a:r>
              <a:rPr lang="ko-KR" altLang="en-US" sz="4000" dirty="0" err="1"/>
              <a:t>뛰려니</a:t>
            </a:r>
            <a:r>
              <a:rPr lang="ko-KR" altLang="en-US" sz="4000" dirty="0"/>
              <a:t> 체계적인 목표 관리</a:t>
            </a:r>
            <a:r>
              <a:rPr lang="en-US" altLang="ko-KR" sz="4000" dirty="0"/>
              <a:t>(3km/5km)</a:t>
            </a:r>
            <a:r>
              <a:rPr lang="ko-KR" altLang="en-US" sz="4000" dirty="0"/>
              <a:t>가 어렵습니다</a:t>
            </a:r>
            <a:r>
              <a:rPr lang="en-US" altLang="ko-KR" sz="4000" dirty="0"/>
              <a:t>." </a:t>
            </a:r>
          </a:p>
          <a:p>
            <a:pPr lvl="1"/>
            <a:r>
              <a:rPr lang="ko-KR" altLang="en-US" sz="4000" b="1" dirty="0"/>
              <a:t>데이터 파편화</a:t>
            </a:r>
            <a:r>
              <a:rPr lang="en-US" altLang="ko-KR" sz="4000" b="1" dirty="0"/>
              <a:t>:</a:t>
            </a:r>
            <a:r>
              <a:rPr lang="ko-KR" altLang="en-US" sz="4000" dirty="0"/>
              <a:t> </a:t>
            </a:r>
            <a:r>
              <a:rPr lang="en-US" altLang="ko-KR" sz="4000" dirty="0"/>
              <a:t>"</a:t>
            </a:r>
            <a:r>
              <a:rPr lang="ko-KR" altLang="en-US" sz="4000" dirty="0"/>
              <a:t>지도 앱 따로</a:t>
            </a:r>
            <a:r>
              <a:rPr lang="en-US" altLang="ko-KR" sz="4000" dirty="0"/>
              <a:t>, </a:t>
            </a:r>
            <a:r>
              <a:rPr lang="ko-KR" altLang="en-US" sz="4000" dirty="0"/>
              <a:t>러닝 기록 앱 따로</a:t>
            </a:r>
            <a:r>
              <a:rPr lang="en-US" altLang="ko-KR" sz="4000" dirty="0"/>
              <a:t>... </a:t>
            </a:r>
            <a:r>
              <a:rPr lang="ko-KR" altLang="en-US" sz="4000" dirty="0"/>
              <a:t>너무 번거롭습니다</a:t>
            </a:r>
            <a:r>
              <a:rPr lang="en-US" altLang="ko-KR" sz="4000" dirty="0"/>
              <a:t>." </a:t>
            </a:r>
          </a:p>
          <a:p>
            <a:pPr lvl="1"/>
            <a:endParaRPr lang="en-US" altLang="ko-KR" sz="4000" dirty="0"/>
          </a:p>
          <a:p>
            <a:pPr lvl="1"/>
            <a:r>
              <a:rPr lang="en-US" altLang="ko-KR" sz="4000" dirty="0"/>
              <a:t>"</a:t>
            </a:r>
            <a:r>
              <a:rPr lang="ko-KR" altLang="en-US" sz="4000" dirty="0"/>
              <a:t>장소 검색부터 운동 기록까지</a:t>
            </a:r>
            <a:r>
              <a:rPr lang="en-US" altLang="ko-KR" sz="4000" dirty="0"/>
              <a:t>,</a:t>
            </a:r>
          </a:p>
          <a:p>
            <a:pPr lvl="1"/>
            <a:r>
              <a:rPr lang="en-US" altLang="ko-KR" sz="4000" dirty="0"/>
              <a:t> </a:t>
            </a:r>
            <a:r>
              <a:rPr lang="en-US" altLang="ko-KR" sz="4000" dirty="0" err="1"/>
              <a:t>MoveON</a:t>
            </a:r>
            <a:r>
              <a:rPr lang="en-US" altLang="ko-KR" sz="4000" dirty="0"/>
              <a:t> </a:t>
            </a:r>
            <a:r>
              <a:rPr lang="ko-KR" altLang="en-US" sz="4000" dirty="0"/>
              <a:t>하나로 연결했습니다</a:t>
            </a:r>
            <a:r>
              <a:rPr lang="en-US" altLang="ko-KR" sz="4000" dirty="0"/>
              <a:t>."</a:t>
            </a:r>
            <a:endParaRPr lang="ko-KR" altLang="ko-KR" sz="4000" dirty="0"/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3279930"/>
            <a:ext cx="1981200" cy="1981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>
            <a:off x="1368008" y="9614179"/>
            <a:ext cx="15246618" cy="0"/>
          </a:xfrm>
          <a:prstGeom prst="line">
            <a:avLst/>
          </a:prstGeom>
          <a:ln w="9525" cap="flat">
            <a:solidFill>
              <a:srgbClr val="545454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-372308" y="-247428"/>
            <a:ext cx="902116" cy="10846078"/>
            <a:chOff x="0" y="0"/>
            <a:chExt cx="812800" cy="97722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9772240"/>
            </a:xfrm>
            <a:custGeom>
              <a:avLst/>
              <a:gdLst/>
              <a:ahLst/>
              <a:cxnLst/>
              <a:rect l="l" t="t" r="r" b="b"/>
              <a:pathLst>
                <a:path w="812800" h="9772240">
                  <a:moveTo>
                    <a:pt x="0" y="0"/>
                  </a:moveTo>
                  <a:lnTo>
                    <a:pt x="812800" y="0"/>
                  </a:lnTo>
                  <a:lnTo>
                    <a:pt x="812800" y="9772240"/>
                  </a:lnTo>
                  <a:lnTo>
                    <a:pt x="0" y="9772240"/>
                  </a:lnTo>
                  <a:close/>
                </a:path>
              </a:pathLst>
            </a:custGeom>
            <a:solidFill>
              <a:srgbClr val="3CB28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812800" cy="97912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6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16320" y="2405402"/>
            <a:ext cx="15842980" cy="1440911"/>
          </a:xfrm>
          <a:custGeom>
            <a:avLst/>
            <a:gdLst/>
            <a:ahLst/>
            <a:cxnLst/>
            <a:rect l="l" t="t" r="r" b="b"/>
            <a:pathLst>
              <a:path w="15842980" h="1440911">
                <a:moveTo>
                  <a:pt x="0" y="0"/>
                </a:moveTo>
                <a:lnTo>
                  <a:pt x="15842980" y="0"/>
                </a:lnTo>
                <a:lnTo>
                  <a:pt x="15842980" y="1440910"/>
                </a:lnTo>
                <a:lnTo>
                  <a:pt x="0" y="14409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0093" b="-20093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368008" y="1239342"/>
            <a:ext cx="6165580" cy="7046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244"/>
              </a:lnSpc>
            </a:pPr>
            <a:r>
              <a:rPr lang="ko-KR" altLang="en-US" sz="3200" b="1" dirty="0"/>
              <a:t>데이터로 찾고</a:t>
            </a:r>
            <a:r>
              <a:rPr lang="en-US" altLang="ko-KR" sz="3200" b="1" dirty="0"/>
              <a:t>, </a:t>
            </a:r>
            <a:r>
              <a:rPr lang="ko-KR" altLang="en-US" sz="3200" b="1" dirty="0"/>
              <a:t>기술로 뜁니다</a:t>
            </a:r>
            <a:r>
              <a:rPr lang="en-US" altLang="ko-KR" sz="3200" b="1" dirty="0"/>
              <a:t>.</a:t>
            </a:r>
            <a:endParaRPr lang="en-US" sz="3200" b="1" spc="-104" dirty="0">
              <a:solidFill>
                <a:srgbClr val="323232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416320" y="715741"/>
            <a:ext cx="3327695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76"/>
              </a:lnSpc>
            </a:pPr>
            <a:r>
              <a:rPr lang="en-US" sz="2300" spc="-46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02.</a:t>
            </a:r>
            <a:r>
              <a:rPr lang="ko-KR" altLang="en-US" sz="2300" dirty="0"/>
              <a:t> 솔루션 </a:t>
            </a:r>
            <a:r>
              <a:rPr lang="en-US" altLang="ko-KR" sz="2300" dirty="0"/>
              <a:t>&amp; </a:t>
            </a:r>
            <a:r>
              <a:rPr lang="ko-KR" altLang="en-US" sz="2300" dirty="0" err="1"/>
              <a:t>차별점</a:t>
            </a:r>
            <a:r>
              <a:rPr lang="ko-KR" altLang="en-US" sz="2300" dirty="0"/>
              <a:t> </a:t>
            </a:r>
            <a:r>
              <a:rPr lang="en-US" altLang="ko-KR" sz="2300" dirty="0"/>
              <a:t>(What is </a:t>
            </a:r>
            <a:r>
              <a:rPr lang="en-US" altLang="ko-KR" sz="2300" dirty="0" err="1"/>
              <a:t>MoveON</a:t>
            </a:r>
            <a:r>
              <a:rPr lang="en-US" altLang="ko-KR" sz="2300" dirty="0"/>
              <a:t>?)</a:t>
            </a:r>
            <a:endParaRPr lang="ko-KR" altLang="ko-KR" sz="2300" b="1" dirty="0"/>
          </a:p>
        </p:txBody>
      </p:sp>
      <p:sp>
        <p:nvSpPr>
          <p:cNvPr id="9" name="TextBox 9"/>
          <p:cNvSpPr txBox="1"/>
          <p:nvPr/>
        </p:nvSpPr>
        <p:spPr>
          <a:xfrm>
            <a:off x="1416320" y="4255887"/>
            <a:ext cx="15842980" cy="5109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1"/>
            <a:r>
              <a:rPr lang="en-US" altLang="ko-KR" sz="5000" b="1" dirty="0" err="1"/>
              <a:t>MoveON</a:t>
            </a:r>
            <a:r>
              <a:rPr lang="en-US" altLang="ko-KR" sz="5000" b="1" dirty="0"/>
              <a:t> </a:t>
            </a:r>
            <a:r>
              <a:rPr lang="ko-KR" altLang="ko-KR" sz="5000" b="1" dirty="0"/>
              <a:t>핵심 기능</a:t>
            </a:r>
            <a:r>
              <a:rPr lang="en-US" altLang="ko-KR" sz="5000" b="1" dirty="0"/>
              <a:t>:</a:t>
            </a:r>
            <a:endParaRPr lang="ko-KR" altLang="ko-KR" sz="5000" dirty="0"/>
          </a:p>
          <a:p>
            <a:pPr lvl="2"/>
            <a:r>
              <a:rPr lang="en-US" altLang="ko-KR" sz="4700" b="1" dirty="0"/>
              <a:t>Smart Search (</a:t>
            </a:r>
            <a:r>
              <a:rPr lang="ko-KR" altLang="en-US" sz="4700" b="1" dirty="0"/>
              <a:t>공공데이터</a:t>
            </a:r>
            <a:r>
              <a:rPr lang="en-US" altLang="ko-KR" sz="4700" b="1" dirty="0"/>
              <a:t>):</a:t>
            </a:r>
            <a:r>
              <a:rPr lang="ko-KR" altLang="en-US" sz="4700" dirty="0"/>
              <a:t> 국민체육진흥공단 </a:t>
            </a:r>
            <a:r>
              <a:rPr lang="en-US" altLang="ko-KR" sz="4700" dirty="0"/>
              <a:t>API</a:t>
            </a:r>
            <a:r>
              <a:rPr lang="ko-KR" altLang="en-US" sz="4700" dirty="0"/>
              <a:t>를 활용해 내 주변 최적의 시설을 필터링</a:t>
            </a:r>
            <a:r>
              <a:rPr lang="en-US" altLang="ko-KR" sz="4700" dirty="0"/>
              <a:t>(</a:t>
            </a:r>
            <a:r>
              <a:rPr lang="ko-KR" altLang="en-US" sz="4700" dirty="0"/>
              <a:t>수영장</a:t>
            </a:r>
            <a:r>
              <a:rPr lang="en-US" altLang="ko-KR" sz="4700" dirty="0"/>
              <a:t>, </a:t>
            </a:r>
            <a:r>
              <a:rPr lang="ko-KR" altLang="en-US" sz="4700" dirty="0"/>
              <a:t>헬스장</a:t>
            </a:r>
            <a:r>
              <a:rPr lang="en-US" altLang="ko-KR" sz="4700" dirty="0"/>
              <a:t>, </a:t>
            </a:r>
            <a:r>
              <a:rPr lang="ko-KR" altLang="en-US" sz="4700" dirty="0"/>
              <a:t>트랙 등</a:t>
            </a:r>
            <a:r>
              <a:rPr lang="en-US" altLang="ko-KR" sz="4700" dirty="0"/>
              <a:t>)</a:t>
            </a:r>
            <a:r>
              <a:rPr lang="ko-KR" altLang="en-US" sz="4700" dirty="0"/>
              <a:t>하여 제공합니다</a:t>
            </a:r>
            <a:r>
              <a:rPr lang="en-US" altLang="ko-KR" sz="4700" dirty="0"/>
              <a:t>.</a:t>
            </a:r>
          </a:p>
          <a:p>
            <a:pPr lvl="2"/>
            <a:r>
              <a:rPr lang="en-US" altLang="ko-KR" sz="4700" b="1" dirty="0"/>
              <a:t>Active Tracking (</a:t>
            </a:r>
            <a:r>
              <a:rPr lang="ko-KR" altLang="en-US" sz="4700" b="1" dirty="0"/>
              <a:t>센서 기술</a:t>
            </a:r>
            <a:r>
              <a:rPr lang="en-US" altLang="ko-KR" sz="4700" b="1" dirty="0"/>
              <a:t>):</a:t>
            </a:r>
            <a:r>
              <a:rPr lang="ko-KR" altLang="en-US" sz="4700" dirty="0"/>
              <a:t> 단순 검색을 넘어</a:t>
            </a:r>
            <a:r>
              <a:rPr lang="en-US" altLang="ko-KR" sz="4700" dirty="0"/>
              <a:t>, </a:t>
            </a:r>
            <a:r>
              <a:rPr lang="ko-KR" altLang="en-US" sz="4700" dirty="0"/>
              <a:t>목표 설정</a:t>
            </a:r>
            <a:r>
              <a:rPr lang="en-US" altLang="ko-KR" sz="4700" dirty="0"/>
              <a:t>(3km, 5km) </a:t>
            </a:r>
            <a:r>
              <a:rPr lang="ko-KR" altLang="en-US" sz="4700" dirty="0"/>
              <a:t>및 실시간 러닝 페이스</a:t>
            </a:r>
            <a:r>
              <a:rPr lang="en-US" altLang="ko-KR" sz="4700" dirty="0"/>
              <a:t>/</a:t>
            </a:r>
            <a:r>
              <a:rPr lang="ko-KR" altLang="en-US" sz="4700" dirty="0"/>
              <a:t>칼로리를 측정합니다</a:t>
            </a:r>
            <a:r>
              <a:rPr lang="en-US" altLang="ko-KR" sz="4700" dirty="0"/>
              <a:t>.</a:t>
            </a:r>
            <a:endParaRPr lang="ko-KR" altLang="ko-KR" sz="4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>
            <a:off x="1368008" y="9614179"/>
            <a:ext cx="15246618" cy="0"/>
          </a:xfrm>
          <a:prstGeom prst="line">
            <a:avLst/>
          </a:prstGeom>
          <a:ln w="9525" cap="flat">
            <a:solidFill>
              <a:srgbClr val="545454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-372308" y="-247428"/>
            <a:ext cx="902116" cy="10846078"/>
            <a:chOff x="0" y="0"/>
            <a:chExt cx="812800" cy="97722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9772240"/>
            </a:xfrm>
            <a:custGeom>
              <a:avLst/>
              <a:gdLst/>
              <a:ahLst/>
              <a:cxnLst/>
              <a:rect l="l" t="t" r="r" b="b"/>
              <a:pathLst>
                <a:path w="812800" h="9772240">
                  <a:moveTo>
                    <a:pt x="0" y="0"/>
                  </a:moveTo>
                  <a:lnTo>
                    <a:pt x="812800" y="0"/>
                  </a:lnTo>
                  <a:lnTo>
                    <a:pt x="812800" y="9772240"/>
                  </a:lnTo>
                  <a:lnTo>
                    <a:pt x="0" y="9772240"/>
                  </a:lnTo>
                  <a:close/>
                </a:path>
              </a:pathLst>
            </a:custGeom>
            <a:solidFill>
              <a:srgbClr val="3CB28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812800" cy="97912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6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16320" y="2405402"/>
            <a:ext cx="15842980" cy="1440911"/>
          </a:xfrm>
          <a:custGeom>
            <a:avLst/>
            <a:gdLst/>
            <a:ahLst/>
            <a:cxnLst/>
            <a:rect l="l" t="t" r="r" b="b"/>
            <a:pathLst>
              <a:path w="15842980" h="1440911">
                <a:moveTo>
                  <a:pt x="0" y="0"/>
                </a:moveTo>
                <a:lnTo>
                  <a:pt x="15842980" y="0"/>
                </a:lnTo>
                <a:lnTo>
                  <a:pt x="15842980" y="1440910"/>
                </a:lnTo>
                <a:lnTo>
                  <a:pt x="0" y="14409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0093" b="-20093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378220" y="1154463"/>
            <a:ext cx="6165580" cy="7046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244"/>
              </a:lnSpc>
            </a:pPr>
            <a:r>
              <a:rPr lang="ko-KR" altLang="en-US" sz="3200" b="1" dirty="0"/>
              <a:t>공공데이터 융합 시스템 구조도</a:t>
            </a:r>
            <a:endParaRPr lang="en-US" sz="3200" b="1" spc="-104" dirty="0">
              <a:solidFill>
                <a:srgbClr val="323232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416320" y="715741"/>
            <a:ext cx="5517880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76"/>
              </a:lnSpc>
            </a:pPr>
            <a:r>
              <a:rPr lang="en-US" sz="2310" spc="-46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03. </a:t>
            </a:r>
            <a:r>
              <a:rPr lang="ko-KR" altLang="en-US" sz="2400" dirty="0"/>
              <a:t>★핵심 기술 </a:t>
            </a:r>
            <a:r>
              <a:rPr lang="en-US" altLang="ko-KR" sz="2400" dirty="0"/>
              <a:t>&amp; </a:t>
            </a:r>
            <a:r>
              <a:rPr lang="ko-KR" altLang="en-US" sz="2400" dirty="0"/>
              <a:t>아키텍처 </a:t>
            </a:r>
            <a:r>
              <a:rPr lang="en-US" altLang="ko-KR" sz="2400" dirty="0"/>
              <a:t>(Architecture)</a:t>
            </a:r>
            <a:endParaRPr lang="ko-KR" altLang="ko-KR" sz="2310" b="1" dirty="0"/>
          </a:p>
        </p:txBody>
      </p:sp>
      <p:sp>
        <p:nvSpPr>
          <p:cNvPr id="9" name="TextBox 9"/>
          <p:cNvSpPr txBox="1"/>
          <p:nvPr/>
        </p:nvSpPr>
        <p:spPr>
          <a:xfrm>
            <a:off x="1416320" y="4152900"/>
            <a:ext cx="15842980" cy="5755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3400" b="1" dirty="0">
                <a:latin typeface="Arial" panose="020B0604020202020204" pitchFamily="34" charset="0"/>
              </a:rPr>
              <a:t>[</a:t>
            </a:r>
            <a:r>
              <a:rPr lang="ko-KR" altLang="ko-KR" sz="3400" b="1" dirty="0" err="1">
                <a:latin typeface="Arial" panose="020B0604020202020204" pitchFamily="34" charset="0"/>
              </a:rPr>
              <a:t>Input</a:t>
            </a:r>
            <a:r>
              <a:rPr lang="ko-KR" altLang="ko-KR" sz="3400" b="1" dirty="0">
                <a:latin typeface="Arial" panose="020B0604020202020204" pitchFamily="34" charset="0"/>
              </a:rPr>
              <a:t> Data]:</a:t>
            </a:r>
            <a:endParaRPr lang="ko-KR" altLang="ko-KR" sz="3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3400" dirty="0">
                <a:latin typeface="Arial" panose="020B0604020202020204" pitchFamily="34" charset="0"/>
              </a:rPr>
              <a:t>🏛️ </a:t>
            </a:r>
            <a:r>
              <a:rPr lang="ko-KR" altLang="ko-KR" sz="3400" b="1" dirty="0">
                <a:latin typeface="Arial" panose="020B0604020202020204" pitchFamily="34" charset="0"/>
              </a:rPr>
              <a:t>공공데이터:</a:t>
            </a:r>
            <a:r>
              <a:rPr lang="ko-KR" altLang="ko-KR" sz="3400" dirty="0">
                <a:latin typeface="Arial" panose="020B0604020202020204" pitchFamily="34" charset="0"/>
              </a:rPr>
              <a:t> KSPO 공공체육시설 상세 정보 API (위치, 운영정보)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3400" dirty="0">
                <a:latin typeface="Arial" panose="020B0604020202020204" pitchFamily="34" charset="0"/>
              </a:rPr>
              <a:t>🛰️ </a:t>
            </a:r>
            <a:r>
              <a:rPr lang="ko-KR" altLang="ko-KR" sz="3400" b="1" dirty="0" err="1">
                <a:latin typeface="Arial" panose="020B0604020202020204" pitchFamily="34" charset="0"/>
              </a:rPr>
              <a:t>Device</a:t>
            </a:r>
            <a:r>
              <a:rPr lang="ko-KR" altLang="ko-KR" sz="3400" b="1" dirty="0">
                <a:latin typeface="Arial" panose="020B0604020202020204" pitchFamily="34" charset="0"/>
              </a:rPr>
              <a:t> </a:t>
            </a:r>
            <a:r>
              <a:rPr lang="ko-KR" altLang="ko-KR" sz="3400" b="1" dirty="0" err="1">
                <a:latin typeface="Arial" panose="020B0604020202020204" pitchFamily="34" charset="0"/>
              </a:rPr>
              <a:t>Sensor</a:t>
            </a:r>
            <a:r>
              <a:rPr lang="ko-KR" altLang="ko-KR" sz="3400" b="1" dirty="0">
                <a:latin typeface="Arial" panose="020B0604020202020204" pitchFamily="34" charset="0"/>
              </a:rPr>
              <a:t>:</a:t>
            </a:r>
            <a:r>
              <a:rPr lang="ko-KR" altLang="ko-KR" sz="3400" dirty="0">
                <a:latin typeface="Arial" panose="020B0604020202020204" pitchFamily="34" charset="0"/>
              </a:rPr>
              <a:t> 사용자 GPS 위도/경도, 가속도 센서</a:t>
            </a:r>
            <a:endParaRPr lang="en-US" altLang="ko-KR" sz="3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ko-KR" altLang="ko-KR" sz="3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3400" b="1" dirty="0">
                <a:latin typeface="Arial" panose="020B0604020202020204" pitchFamily="34" charset="0"/>
              </a:rPr>
              <a:t>[</a:t>
            </a:r>
            <a:r>
              <a:rPr lang="ko-KR" altLang="ko-KR" sz="3400" b="1" dirty="0" err="1">
                <a:latin typeface="Arial" panose="020B0604020202020204" pitchFamily="34" charset="0"/>
              </a:rPr>
              <a:t>Core</a:t>
            </a:r>
            <a:r>
              <a:rPr lang="ko-KR" altLang="ko-KR" sz="3400" b="1" dirty="0">
                <a:latin typeface="Arial" panose="020B0604020202020204" pitchFamily="34" charset="0"/>
              </a:rPr>
              <a:t> </a:t>
            </a:r>
            <a:r>
              <a:rPr lang="ko-KR" altLang="ko-KR" sz="3400" b="1" dirty="0" err="1">
                <a:latin typeface="Arial" panose="020B0604020202020204" pitchFamily="34" charset="0"/>
              </a:rPr>
              <a:t>Logic</a:t>
            </a:r>
            <a:r>
              <a:rPr lang="ko-KR" altLang="ko-KR" sz="3400" b="1" dirty="0">
                <a:latin typeface="Arial" panose="020B0604020202020204" pitchFamily="34" charset="0"/>
              </a:rPr>
              <a:t>]:</a:t>
            </a:r>
            <a:endParaRPr lang="ko-KR" altLang="ko-KR" sz="3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3400" b="1" dirty="0" err="1">
                <a:latin typeface="Arial" panose="020B0604020202020204" pitchFamily="34" charset="0"/>
              </a:rPr>
              <a:t>Geo-Fencing</a:t>
            </a:r>
            <a:r>
              <a:rPr lang="ko-KR" altLang="ko-KR" sz="3400" b="1" dirty="0">
                <a:latin typeface="Arial" panose="020B0604020202020204" pitchFamily="34" charset="0"/>
              </a:rPr>
              <a:t>:</a:t>
            </a:r>
            <a:r>
              <a:rPr lang="ko-KR" altLang="ko-KR" sz="3400" dirty="0">
                <a:latin typeface="Arial" panose="020B0604020202020204" pitchFamily="34" charset="0"/>
              </a:rPr>
              <a:t> 반경 5km 이내 시설 필터링 알고리즘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3400" b="1" dirty="0" err="1">
                <a:latin typeface="Arial" panose="020B0604020202020204" pitchFamily="34" charset="0"/>
              </a:rPr>
              <a:t>Tracking</a:t>
            </a:r>
            <a:r>
              <a:rPr lang="ko-KR" altLang="ko-KR" sz="3400" b="1" dirty="0">
                <a:latin typeface="Arial" panose="020B0604020202020204" pitchFamily="34" charset="0"/>
              </a:rPr>
              <a:t> </a:t>
            </a:r>
            <a:r>
              <a:rPr lang="ko-KR" altLang="ko-KR" sz="3400" b="1" dirty="0" err="1">
                <a:latin typeface="Arial" panose="020B0604020202020204" pitchFamily="34" charset="0"/>
              </a:rPr>
              <a:t>Engine</a:t>
            </a:r>
            <a:r>
              <a:rPr lang="ko-KR" altLang="ko-KR" sz="3400" b="1" dirty="0">
                <a:latin typeface="Arial" panose="020B0604020202020204" pitchFamily="34" charset="0"/>
              </a:rPr>
              <a:t>:</a:t>
            </a:r>
            <a:r>
              <a:rPr lang="ko-KR" altLang="ko-KR" sz="3400" dirty="0">
                <a:latin typeface="Arial" panose="020B0604020202020204" pitchFamily="34" charset="0"/>
              </a:rPr>
              <a:t> 이동 거리(</a:t>
            </a:r>
            <a:r>
              <a:rPr lang="ko-KR" altLang="ko-KR" sz="3400" dirty="0" err="1">
                <a:latin typeface="Arial" panose="020B0604020202020204" pitchFamily="34" charset="0"/>
              </a:rPr>
              <a:t>Haversine</a:t>
            </a:r>
            <a:r>
              <a:rPr lang="ko-KR" altLang="ko-KR" sz="3400" dirty="0">
                <a:latin typeface="Arial" panose="020B0604020202020204" pitchFamily="34" charset="0"/>
              </a:rPr>
              <a:t> </a:t>
            </a:r>
            <a:r>
              <a:rPr lang="ko-KR" altLang="ko-KR" sz="3400" dirty="0" err="1">
                <a:latin typeface="Arial" panose="020B0604020202020204" pitchFamily="34" charset="0"/>
              </a:rPr>
              <a:t>Formula</a:t>
            </a:r>
            <a:r>
              <a:rPr lang="ko-KR" altLang="ko-KR" sz="3400" dirty="0">
                <a:latin typeface="Arial" panose="020B0604020202020204" pitchFamily="34" charset="0"/>
              </a:rPr>
              <a:t>), 속도, 소모 칼로리 실시간 연산</a:t>
            </a:r>
            <a:endParaRPr lang="en-US" altLang="ko-KR" sz="3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ko-KR" altLang="ko-KR" sz="3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3400" b="1" dirty="0">
                <a:latin typeface="Arial" panose="020B0604020202020204" pitchFamily="34" charset="0"/>
              </a:rPr>
              <a:t>[</a:t>
            </a:r>
            <a:r>
              <a:rPr lang="ko-KR" altLang="ko-KR" sz="3400" b="1" dirty="0" err="1">
                <a:latin typeface="Arial" panose="020B0604020202020204" pitchFamily="34" charset="0"/>
              </a:rPr>
              <a:t>User</a:t>
            </a:r>
            <a:r>
              <a:rPr lang="ko-KR" altLang="ko-KR" sz="3400" b="1" dirty="0">
                <a:latin typeface="Arial" panose="020B0604020202020204" pitchFamily="34" charset="0"/>
              </a:rPr>
              <a:t> Service]:</a:t>
            </a:r>
            <a:endParaRPr lang="ko-KR" altLang="ko-KR" sz="3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3400" dirty="0">
                <a:latin typeface="Arial" panose="020B0604020202020204" pitchFamily="34" charset="0"/>
              </a:rPr>
              <a:t>맞춤형 시설 지도(</a:t>
            </a:r>
            <a:r>
              <a:rPr lang="ko-KR" altLang="ko-KR" sz="3400" dirty="0" err="1">
                <a:latin typeface="Arial" panose="020B0604020202020204" pitchFamily="34" charset="0"/>
              </a:rPr>
              <a:t>Map</a:t>
            </a:r>
            <a:r>
              <a:rPr lang="ko-KR" altLang="ko-KR" sz="3400" dirty="0">
                <a:latin typeface="Arial" panose="020B0604020202020204" pitchFamily="34" charset="0"/>
              </a:rPr>
              <a:t>) + 퍼스널 러닝 코칭(</a:t>
            </a:r>
            <a:r>
              <a:rPr lang="ko-KR" altLang="ko-KR" sz="3400" dirty="0" err="1">
                <a:latin typeface="Arial" panose="020B0604020202020204" pitchFamily="34" charset="0"/>
              </a:rPr>
              <a:t>Dashboard</a:t>
            </a:r>
            <a:r>
              <a:rPr lang="ko-KR" altLang="ko-KR" sz="3400" dirty="0">
                <a:latin typeface="Arial" panose="020B0604020202020204" pitchFamily="34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ko-KR" altLang="ko-KR" sz="3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819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6614626" y="9499879"/>
            <a:ext cx="495866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37"/>
              </a:lnSpc>
            </a:pPr>
            <a:r>
              <a:rPr lang="en-US" sz="1281" spc="-25">
                <a:solidFill>
                  <a:srgbClr val="545454"/>
                </a:solidFill>
                <a:latin typeface="Nanum Square"/>
                <a:ea typeface="Nanum Square"/>
                <a:cs typeface="Nanum Square"/>
                <a:sym typeface="Nanum Square"/>
              </a:rPr>
              <a:t>00</a:t>
            </a:r>
          </a:p>
        </p:txBody>
      </p:sp>
      <p:sp>
        <p:nvSpPr>
          <p:cNvPr id="6" name="AutoShape 6"/>
          <p:cNvSpPr/>
          <p:nvPr/>
        </p:nvSpPr>
        <p:spPr>
          <a:xfrm flipH="1">
            <a:off x="1368008" y="9614179"/>
            <a:ext cx="15246618" cy="0"/>
          </a:xfrm>
          <a:prstGeom prst="line">
            <a:avLst/>
          </a:prstGeom>
          <a:ln w="9525" cap="flat">
            <a:solidFill>
              <a:srgbClr val="545454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-372308" y="-247428"/>
            <a:ext cx="902116" cy="10846078"/>
            <a:chOff x="0" y="0"/>
            <a:chExt cx="812800" cy="97722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9772240"/>
            </a:xfrm>
            <a:custGeom>
              <a:avLst/>
              <a:gdLst/>
              <a:ahLst/>
              <a:cxnLst/>
              <a:rect l="l" t="t" r="r" b="b"/>
              <a:pathLst>
                <a:path w="812800" h="9772240">
                  <a:moveTo>
                    <a:pt x="0" y="0"/>
                  </a:moveTo>
                  <a:lnTo>
                    <a:pt x="812800" y="0"/>
                  </a:lnTo>
                  <a:lnTo>
                    <a:pt x="812800" y="9772240"/>
                  </a:lnTo>
                  <a:lnTo>
                    <a:pt x="0" y="9772240"/>
                  </a:lnTo>
                  <a:close/>
                </a:path>
              </a:pathLst>
            </a:custGeom>
            <a:solidFill>
              <a:srgbClr val="3CB281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812800" cy="97912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6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378220" y="1154463"/>
            <a:ext cx="6204602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4"/>
              </a:lnSpc>
            </a:pPr>
            <a:r>
              <a:rPr lang="en-US" sz="5203" b="1" spc="-104" dirty="0" err="1">
                <a:solidFill>
                  <a:srgbClr val="32323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개발</a:t>
            </a:r>
            <a:r>
              <a:rPr lang="en-US" sz="5203" b="1" spc="-104" dirty="0">
                <a:solidFill>
                  <a:srgbClr val="32323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</a:t>
            </a:r>
            <a:r>
              <a:rPr lang="en-US" sz="5203" b="1" spc="-104" dirty="0" err="1">
                <a:solidFill>
                  <a:srgbClr val="32323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환경</a:t>
            </a:r>
            <a:r>
              <a:rPr lang="en-US" sz="5203" b="1" spc="-104" dirty="0">
                <a:solidFill>
                  <a:srgbClr val="32323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및 </a:t>
            </a:r>
            <a:r>
              <a:rPr lang="en-US" sz="5203" b="1" spc="-104" dirty="0" err="1">
                <a:solidFill>
                  <a:srgbClr val="32323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기술</a:t>
            </a:r>
            <a:r>
              <a:rPr lang="en-US" sz="5203" b="1" spc="-104" dirty="0">
                <a:solidFill>
                  <a:srgbClr val="32323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</a:t>
            </a:r>
            <a:r>
              <a:rPr lang="en-US" sz="5203" b="1" spc="-104" dirty="0" err="1">
                <a:solidFill>
                  <a:srgbClr val="32323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스택</a:t>
            </a:r>
            <a:endParaRPr lang="en-US" sz="5203" b="1" spc="-104" dirty="0">
              <a:solidFill>
                <a:srgbClr val="323232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435370" y="715741"/>
            <a:ext cx="332769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6"/>
              </a:lnSpc>
            </a:pPr>
            <a:r>
              <a:rPr lang="en-US" sz="2314" spc="-46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04. 개발 환경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65CAED25-EA0D-4467-BD2E-7B992FE97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370" y="2078388"/>
            <a:ext cx="15918546" cy="4419593"/>
          </a:xfrm>
          <a:prstGeom prst="rect">
            <a:avLst/>
          </a:prstGeom>
        </p:spPr>
      </p:pic>
      <p:sp>
        <p:nvSpPr>
          <p:cNvPr id="10" name="TextBox 11"/>
          <p:cNvSpPr txBox="1"/>
          <p:nvPr/>
        </p:nvSpPr>
        <p:spPr>
          <a:xfrm>
            <a:off x="1435370" y="6362700"/>
            <a:ext cx="6337030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244"/>
              </a:lnSpc>
            </a:pPr>
            <a:r>
              <a:rPr lang="ko-KR" altLang="en-US" sz="5200" dirty="0"/>
              <a:t>활용한 스마트폰 기능</a:t>
            </a:r>
            <a:endParaRPr lang="en-US" sz="5200" b="1" spc="-104" dirty="0">
              <a:solidFill>
                <a:srgbClr val="323232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176" y="7208733"/>
            <a:ext cx="8158745" cy="182096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8910" y="7634560"/>
            <a:ext cx="7630590" cy="1028844"/>
          </a:xfrm>
          <a:prstGeom prst="rect">
            <a:avLst/>
          </a:prstGeom>
        </p:spPr>
      </p:pic>
      <p:sp>
        <p:nvSpPr>
          <p:cNvPr id="13" name="TextBox 11"/>
          <p:cNvSpPr txBox="1"/>
          <p:nvPr/>
        </p:nvSpPr>
        <p:spPr>
          <a:xfrm>
            <a:off x="9906000" y="6795318"/>
            <a:ext cx="8001000" cy="7249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244"/>
              </a:lnSpc>
            </a:pPr>
            <a:r>
              <a:rPr lang="ko-KR" altLang="en-US" sz="4000" dirty="0"/>
              <a:t>활용한 스마트폰 하드웨어 기능</a:t>
            </a:r>
            <a:endParaRPr lang="en-US" sz="4000" b="1" spc="-104" dirty="0">
              <a:solidFill>
                <a:srgbClr val="323232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614626" y="9499879"/>
            <a:ext cx="495866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37"/>
              </a:lnSpc>
            </a:pPr>
            <a:r>
              <a:rPr lang="en-US" sz="1281" spc="-25">
                <a:solidFill>
                  <a:srgbClr val="545454"/>
                </a:solidFill>
                <a:latin typeface="Nanum Square"/>
                <a:ea typeface="Nanum Square"/>
                <a:cs typeface="Nanum Square"/>
                <a:sym typeface="Nanum Square"/>
              </a:rPr>
              <a:t>00</a:t>
            </a:r>
          </a:p>
        </p:txBody>
      </p:sp>
      <p:sp>
        <p:nvSpPr>
          <p:cNvPr id="3" name="AutoShape 3"/>
          <p:cNvSpPr/>
          <p:nvPr/>
        </p:nvSpPr>
        <p:spPr>
          <a:xfrm flipH="1">
            <a:off x="1368008" y="9614179"/>
            <a:ext cx="15246618" cy="0"/>
          </a:xfrm>
          <a:prstGeom prst="line">
            <a:avLst/>
          </a:prstGeom>
          <a:ln w="9525" cap="flat">
            <a:solidFill>
              <a:srgbClr val="545454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-372308" y="-247428"/>
            <a:ext cx="902116" cy="10846078"/>
            <a:chOff x="0" y="0"/>
            <a:chExt cx="812800" cy="97722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9772240"/>
            </a:xfrm>
            <a:custGeom>
              <a:avLst/>
              <a:gdLst/>
              <a:ahLst/>
              <a:cxnLst/>
              <a:rect l="l" t="t" r="r" b="b"/>
              <a:pathLst>
                <a:path w="812800" h="9772240">
                  <a:moveTo>
                    <a:pt x="0" y="0"/>
                  </a:moveTo>
                  <a:lnTo>
                    <a:pt x="812800" y="0"/>
                  </a:lnTo>
                  <a:lnTo>
                    <a:pt x="812800" y="9772240"/>
                  </a:lnTo>
                  <a:lnTo>
                    <a:pt x="0" y="9772240"/>
                  </a:lnTo>
                  <a:close/>
                </a:path>
              </a:pathLst>
            </a:custGeom>
            <a:solidFill>
              <a:srgbClr val="3CB281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812800" cy="97912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6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78220" y="2693949"/>
            <a:ext cx="15881080" cy="6390796"/>
            <a:chOff x="0" y="0"/>
            <a:chExt cx="14146956" cy="569295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146957" cy="5692958"/>
            </a:xfrm>
            <a:custGeom>
              <a:avLst/>
              <a:gdLst/>
              <a:ahLst/>
              <a:cxnLst/>
              <a:rect l="l" t="t" r="r" b="b"/>
              <a:pathLst>
                <a:path w="14146957" h="5692958">
                  <a:moveTo>
                    <a:pt x="0" y="0"/>
                  </a:moveTo>
                  <a:lnTo>
                    <a:pt x="14146957" y="0"/>
                  </a:lnTo>
                  <a:lnTo>
                    <a:pt x="14146957" y="5692958"/>
                  </a:lnTo>
                  <a:lnTo>
                    <a:pt x="0" y="56929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3CB281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14146956" cy="5712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6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5400000">
            <a:off x="9257119" y="-5308232"/>
            <a:ext cx="123281" cy="15881080"/>
            <a:chOff x="0" y="0"/>
            <a:chExt cx="107081" cy="1379418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7081" cy="13794186"/>
            </a:xfrm>
            <a:custGeom>
              <a:avLst/>
              <a:gdLst/>
              <a:ahLst/>
              <a:cxnLst/>
              <a:rect l="l" t="t" r="r" b="b"/>
              <a:pathLst>
                <a:path w="107081" h="13794186">
                  <a:moveTo>
                    <a:pt x="0" y="0"/>
                  </a:moveTo>
                  <a:lnTo>
                    <a:pt x="107081" y="0"/>
                  </a:lnTo>
                  <a:lnTo>
                    <a:pt x="107081" y="13794186"/>
                  </a:lnTo>
                  <a:lnTo>
                    <a:pt x="0" y="13794186"/>
                  </a:lnTo>
                  <a:close/>
                </a:path>
              </a:pathLst>
            </a:custGeom>
            <a:solidFill>
              <a:srgbClr val="3CB281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107081" cy="138132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6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78220" y="1154463"/>
            <a:ext cx="7497567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4"/>
              </a:lnSpc>
            </a:pPr>
            <a:r>
              <a:rPr lang="en-US" sz="5203" b="1" spc="-104">
                <a:solidFill>
                  <a:srgbClr val="32323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개발 과정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35370" y="715741"/>
            <a:ext cx="3327695" cy="351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6"/>
              </a:lnSpc>
            </a:pPr>
            <a:r>
              <a:rPr lang="en-US" sz="2314" spc="-46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05. </a:t>
            </a:r>
            <a:r>
              <a:rPr lang="en-US" sz="2314" spc="-46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개발</a:t>
            </a:r>
            <a:r>
              <a:rPr lang="en-US" sz="2314" spc="-46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2314" spc="-46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과정</a:t>
            </a:r>
            <a:endParaRPr lang="en-US" sz="2314" spc="-46" dirty="0">
              <a:solidFill>
                <a:srgbClr val="323232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934147" y="3086565"/>
            <a:ext cx="6226185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3499" b="1" spc="-69" dirty="0">
                <a:solidFill>
                  <a:srgbClr val="32323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25년 11월 13일</a:t>
            </a:r>
          </a:p>
          <a:p>
            <a:pPr algn="l">
              <a:lnSpc>
                <a:spcPts val="3959"/>
              </a:lnSpc>
            </a:pPr>
            <a:endParaRPr lang="en-US" sz="3499" b="1" spc="-69" dirty="0">
              <a:solidFill>
                <a:srgbClr val="323232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934147" y="3596152"/>
            <a:ext cx="11096346" cy="188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6"/>
              </a:lnSpc>
            </a:pPr>
            <a:r>
              <a:rPr lang="en-US" sz="3096" spc="-61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주제</a:t>
            </a:r>
            <a:r>
              <a:rPr lang="en-US" sz="3096" spc="-61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3096" spc="-61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선정후</a:t>
            </a:r>
            <a:r>
              <a:rPr lang="en-US" sz="3096" spc="-61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3096" spc="-61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역할분담</a:t>
            </a:r>
            <a:r>
              <a:rPr lang="en-US" sz="3096" spc="-61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3096" spc="-61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선정</a:t>
            </a:r>
            <a:r>
              <a:rPr lang="en-US" sz="3096" spc="-61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</a:p>
          <a:p>
            <a:pPr algn="l">
              <a:lnSpc>
                <a:spcPts val="3716"/>
              </a:lnSpc>
            </a:pPr>
            <a:r>
              <a:rPr lang="en-US" sz="3096" spc="-61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김 </a:t>
            </a:r>
            <a:r>
              <a:rPr lang="en-US" sz="3096" spc="-61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산,이예진:기능</a:t>
            </a:r>
            <a:r>
              <a:rPr lang="en-US" sz="3096" spc="-61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3096" spc="-61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구현</a:t>
            </a:r>
            <a:r>
              <a:rPr lang="en-US" sz="3096" spc="-61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및 </a:t>
            </a:r>
            <a:r>
              <a:rPr lang="en-US" sz="3096" spc="-61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레이아웃</a:t>
            </a:r>
            <a:r>
              <a:rPr lang="en-US" sz="3096" spc="-61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3096" spc="-61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담당</a:t>
            </a:r>
            <a:endParaRPr lang="en-US" sz="3096" spc="-61" dirty="0">
              <a:solidFill>
                <a:srgbClr val="323232"/>
              </a:solidFill>
              <a:latin typeface="Nanum Square"/>
              <a:ea typeface="Nanum Square"/>
              <a:cs typeface="Nanum Square"/>
              <a:sym typeface="Nanum Square"/>
            </a:endParaRPr>
          </a:p>
          <a:p>
            <a:pPr algn="l">
              <a:lnSpc>
                <a:spcPts val="3716"/>
              </a:lnSpc>
            </a:pPr>
            <a:r>
              <a:rPr lang="en-US" sz="3096" spc="-61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강민우,정원중:문서</a:t>
            </a:r>
            <a:r>
              <a:rPr lang="en-US" sz="3096" spc="-61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3096" spc="-61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정리</a:t>
            </a:r>
            <a:r>
              <a:rPr lang="en-US" sz="3096" spc="-61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및 </a:t>
            </a:r>
            <a:r>
              <a:rPr lang="en-US" sz="3096" spc="-61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PPT제작</a:t>
            </a:r>
            <a:r>
              <a:rPr lang="en-US" sz="3096" spc="-61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, </a:t>
            </a:r>
            <a:r>
              <a:rPr lang="en-US" sz="3096" spc="-61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발표</a:t>
            </a:r>
            <a:r>
              <a:rPr lang="en-US" sz="3096" spc="-61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3096" spc="-61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담당</a:t>
            </a:r>
            <a:r>
              <a:rPr lang="en-US" sz="3096" spc="-61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+</a:t>
            </a:r>
            <a:r>
              <a:rPr lang="en-US" sz="3096" spc="-61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김산</a:t>
            </a:r>
            <a:r>
              <a:rPr lang="en-US" sz="3096" spc="-61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앱 </a:t>
            </a:r>
            <a:r>
              <a:rPr lang="en-US" sz="3096" spc="-61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시연</a:t>
            </a:r>
            <a:endParaRPr lang="en-US" sz="3096" spc="-61" dirty="0">
              <a:solidFill>
                <a:srgbClr val="323232"/>
              </a:solidFill>
              <a:latin typeface="Nanum Square"/>
              <a:ea typeface="Nanum Square"/>
              <a:cs typeface="Nanum Square"/>
              <a:sym typeface="Nanum Square"/>
            </a:endParaRPr>
          </a:p>
          <a:p>
            <a:pPr algn="l">
              <a:lnSpc>
                <a:spcPts val="3716"/>
              </a:lnSpc>
            </a:pPr>
            <a:endParaRPr lang="en-US" sz="3096" spc="-61" dirty="0">
              <a:solidFill>
                <a:srgbClr val="323232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934147" y="5360710"/>
            <a:ext cx="6226185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3499" b="1" spc="-69">
                <a:solidFill>
                  <a:srgbClr val="32323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25년 11월 14일~16일</a:t>
            </a:r>
          </a:p>
          <a:p>
            <a:pPr algn="l">
              <a:lnSpc>
                <a:spcPts val="3959"/>
              </a:lnSpc>
            </a:pPr>
            <a:endParaRPr lang="en-US" sz="3499" b="1" spc="-69">
              <a:solidFill>
                <a:srgbClr val="323232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934147" y="5872627"/>
            <a:ext cx="10493829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spc="-6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김 산, 이예진ㅣ주제를 선정한걸 바탕으로 개발 진행(요약)</a:t>
            </a:r>
          </a:p>
          <a:p>
            <a:pPr algn="l">
              <a:lnSpc>
                <a:spcPts val="2324"/>
              </a:lnSpc>
            </a:pPr>
            <a:endParaRPr lang="en-US" sz="3099" spc="-61">
              <a:solidFill>
                <a:srgbClr val="323232"/>
              </a:solidFill>
              <a:latin typeface="Nanum Square"/>
              <a:ea typeface="Nanum Square"/>
              <a:cs typeface="Nanum Square"/>
              <a:sym typeface="Nanum Square"/>
            </a:endParaRPr>
          </a:p>
          <a:p>
            <a:pPr algn="l">
              <a:lnSpc>
                <a:spcPts val="2324"/>
              </a:lnSpc>
            </a:pPr>
            <a:endParaRPr lang="en-US" sz="3099" spc="-61">
              <a:solidFill>
                <a:srgbClr val="323232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934147" y="7017122"/>
            <a:ext cx="6226185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3499" b="1" spc="-69">
                <a:solidFill>
                  <a:srgbClr val="32323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25년 11월 16일~19일</a:t>
            </a:r>
          </a:p>
          <a:p>
            <a:pPr algn="l">
              <a:lnSpc>
                <a:spcPts val="3959"/>
              </a:lnSpc>
            </a:pPr>
            <a:endParaRPr lang="en-US" sz="3499" b="1" spc="-69">
              <a:solidFill>
                <a:srgbClr val="323232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934147" y="7526710"/>
            <a:ext cx="11346354" cy="805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spc="-61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강민우</a:t>
            </a:r>
            <a:r>
              <a:rPr lang="en-US" sz="3099" spc="-61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3099" spc="-61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ㅣ프롬프트및</a:t>
            </a:r>
            <a:r>
              <a:rPr lang="en-US" sz="3099" spc="-61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3099" spc="-61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제작툴,문서</a:t>
            </a:r>
            <a:r>
              <a:rPr lang="en-US" sz="3099" spc="-61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3099" spc="-61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정리</a:t>
            </a:r>
            <a:r>
              <a:rPr lang="en-US" sz="3099" spc="-61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및 </a:t>
            </a:r>
            <a:r>
              <a:rPr lang="en-US" sz="3099" spc="-61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PPT제작,발표</a:t>
            </a:r>
            <a:r>
              <a:rPr lang="en-US" sz="3099" spc="-61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3099" spc="-61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진행</a:t>
            </a:r>
            <a:endParaRPr lang="en-US" sz="3099" spc="-61" dirty="0">
              <a:solidFill>
                <a:srgbClr val="323232"/>
              </a:solidFill>
              <a:latin typeface="Nanum Square"/>
              <a:ea typeface="Nanum Square"/>
              <a:cs typeface="Nanum Square"/>
              <a:sym typeface="Nanum Square"/>
            </a:endParaRPr>
          </a:p>
          <a:p>
            <a:pPr algn="l">
              <a:lnSpc>
                <a:spcPts val="2324"/>
              </a:lnSpc>
            </a:pPr>
            <a:endParaRPr lang="en-US" sz="3099" spc="-61" dirty="0">
              <a:solidFill>
                <a:srgbClr val="323232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614626" y="9499879"/>
            <a:ext cx="495866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37"/>
              </a:lnSpc>
            </a:pPr>
            <a:r>
              <a:rPr lang="en-US" sz="1281" spc="-25">
                <a:solidFill>
                  <a:srgbClr val="545454"/>
                </a:solidFill>
                <a:latin typeface="Nanum Square"/>
                <a:ea typeface="Nanum Square"/>
                <a:cs typeface="Nanum Square"/>
                <a:sym typeface="Nanum Square"/>
              </a:rPr>
              <a:t>00</a:t>
            </a:r>
          </a:p>
        </p:txBody>
      </p:sp>
      <p:sp>
        <p:nvSpPr>
          <p:cNvPr id="3" name="AutoShape 3"/>
          <p:cNvSpPr/>
          <p:nvPr/>
        </p:nvSpPr>
        <p:spPr>
          <a:xfrm flipH="1">
            <a:off x="1368008" y="9614179"/>
            <a:ext cx="15246618" cy="0"/>
          </a:xfrm>
          <a:prstGeom prst="line">
            <a:avLst/>
          </a:prstGeom>
          <a:ln w="9525" cap="flat">
            <a:solidFill>
              <a:srgbClr val="545454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-372308" y="-247428"/>
            <a:ext cx="902116" cy="10846078"/>
            <a:chOff x="0" y="0"/>
            <a:chExt cx="812800" cy="97722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9772240"/>
            </a:xfrm>
            <a:custGeom>
              <a:avLst/>
              <a:gdLst/>
              <a:ahLst/>
              <a:cxnLst/>
              <a:rect l="l" t="t" r="r" b="b"/>
              <a:pathLst>
                <a:path w="812800" h="9772240">
                  <a:moveTo>
                    <a:pt x="0" y="0"/>
                  </a:moveTo>
                  <a:lnTo>
                    <a:pt x="812800" y="0"/>
                  </a:lnTo>
                  <a:lnTo>
                    <a:pt x="812800" y="9772240"/>
                  </a:lnTo>
                  <a:lnTo>
                    <a:pt x="0" y="9772240"/>
                  </a:lnTo>
                  <a:close/>
                </a:path>
              </a:pathLst>
            </a:custGeom>
            <a:solidFill>
              <a:srgbClr val="3CB281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812800" cy="97912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6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378220" y="1154463"/>
            <a:ext cx="4982649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4"/>
              </a:lnSpc>
            </a:pPr>
            <a:r>
              <a:rPr lang="en-US" sz="5203" b="1" spc="-104">
                <a:solidFill>
                  <a:srgbClr val="32323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실제 앱 실행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35370" y="715741"/>
            <a:ext cx="332769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6"/>
              </a:lnSpc>
            </a:pPr>
            <a:r>
              <a:rPr lang="en-US" sz="2314" spc="-46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06. 시연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124957" y="3733212"/>
            <a:ext cx="4038087" cy="4038087"/>
            <a:chOff x="0" y="0"/>
            <a:chExt cx="861290" cy="86129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61290" cy="861290"/>
            </a:xfrm>
            <a:custGeom>
              <a:avLst/>
              <a:gdLst/>
              <a:ahLst/>
              <a:cxnLst/>
              <a:rect l="l" t="t" r="r" b="b"/>
              <a:pathLst>
                <a:path w="861290" h="861290">
                  <a:moveTo>
                    <a:pt x="430645" y="0"/>
                  </a:moveTo>
                  <a:lnTo>
                    <a:pt x="861290" y="430645"/>
                  </a:lnTo>
                  <a:lnTo>
                    <a:pt x="430645" y="861290"/>
                  </a:lnTo>
                  <a:lnTo>
                    <a:pt x="0" y="430645"/>
                  </a:lnTo>
                  <a:lnTo>
                    <a:pt x="430645" y="0"/>
                  </a:lnTo>
                  <a:close/>
                </a:path>
              </a:pathLst>
            </a:custGeom>
            <a:solidFill>
              <a:srgbClr val="3CB281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48034" y="119459"/>
              <a:ext cx="565221" cy="593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26"/>
                </a:lnSpc>
              </a:pPr>
              <a:r>
                <a:rPr lang="en-US" sz="3522" dirty="0" err="1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실제</a:t>
              </a:r>
              <a:r>
                <a:rPr lang="en-US" sz="3522" dirty="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 </a:t>
              </a:r>
              <a:r>
                <a:rPr lang="en-US" sz="3522" dirty="0" err="1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시연</a:t>
              </a:r>
              <a:endParaRPr lang="en-US" sz="352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endParaRPr>
            </a:p>
          </p:txBody>
        </p:sp>
      </p:grpSp>
      <p:sp>
        <p:nvSpPr>
          <p:cNvPr id="12" name="TextBox 15">
            <a:extLst>
              <a:ext uri="{FF2B5EF4-FFF2-40B4-BE49-F238E27FC236}">
                <a16:creationId xmlns:a16="http://schemas.microsoft.com/office/drawing/2014/main" id="{F882E9F3-C328-405D-9F0A-A11B368131DD}"/>
              </a:ext>
            </a:extLst>
          </p:cNvPr>
          <p:cNvSpPr txBox="1"/>
          <p:nvPr/>
        </p:nvSpPr>
        <p:spPr>
          <a:xfrm>
            <a:off x="1435371" y="8980766"/>
            <a:ext cx="1307830" cy="5282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ko-KR" altLang="en-US" sz="3499" b="1" spc="-69" dirty="0">
                <a:solidFill>
                  <a:srgbClr val="323232"/>
                </a:solidFill>
                <a:latin typeface="Nanum Square Bold"/>
                <a:ea typeface="Nanum Square Bold"/>
                <a:cs typeface="Nanum Square Bold"/>
                <a:sym typeface="Nanum Square Bold"/>
                <a:hlinkClick r:id="rId2"/>
              </a:rPr>
              <a:t>링크</a:t>
            </a:r>
            <a:endParaRPr lang="en-US" sz="3499" b="1" spc="-69" dirty="0">
              <a:solidFill>
                <a:srgbClr val="323232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614626" y="9499879"/>
            <a:ext cx="495866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37"/>
              </a:lnSpc>
            </a:pPr>
            <a:r>
              <a:rPr lang="en-US" sz="1281" spc="-25">
                <a:solidFill>
                  <a:srgbClr val="545454"/>
                </a:solidFill>
                <a:latin typeface="Nanum Square"/>
                <a:ea typeface="Nanum Square"/>
                <a:cs typeface="Nanum Square"/>
                <a:sym typeface="Nanum Square"/>
              </a:rPr>
              <a:t>00</a:t>
            </a:r>
          </a:p>
        </p:txBody>
      </p:sp>
      <p:sp>
        <p:nvSpPr>
          <p:cNvPr id="3" name="AutoShape 3"/>
          <p:cNvSpPr/>
          <p:nvPr/>
        </p:nvSpPr>
        <p:spPr>
          <a:xfrm flipH="1">
            <a:off x="1368008" y="9614179"/>
            <a:ext cx="15246618" cy="0"/>
          </a:xfrm>
          <a:prstGeom prst="line">
            <a:avLst/>
          </a:prstGeom>
          <a:ln w="9525" cap="flat">
            <a:solidFill>
              <a:srgbClr val="545454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-372308" y="-247428"/>
            <a:ext cx="902116" cy="10846078"/>
            <a:chOff x="0" y="0"/>
            <a:chExt cx="812800" cy="97722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9772240"/>
            </a:xfrm>
            <a:custGeom>
              <a:avLst/>
              <a:gdLst/>
              <a:ahLst/>
              <a:cxnLst/>
              <a:rect l="l" t="t" r="r" b="b"/>
              <a:pathLst>
                <a:path w="812800" h="9772240">
                  <a:moveTo>
                    <a:pt x="0" y="0"/>
                  </a:moveTo>
                  <a:lnTo>
                    <a:pt x="812800" y="0"/>
                  </a:lnTo>
                  <a:lnTo>
                    <a:pt x="812800" y="9772240"/>
                  </a:lnTo>
                  <a:lnTo>
                    <a:pt x="0" y="9772240"/>
                  </a:lnTo>
                  <a:close/>
                </a:path>
              </a:pathLst>
            </a:custGeom>
            <a:solidFill>
              <a:srgbClr val="3CB281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812800" cy="97912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6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378220" y="1154463"/>
            <a:ext cx="4982649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4"/>
              </a:lnSpc>
            </a:pPr>
            <a:r>
              <a:rPr lang="en-US" sz="5203" b="1" spc="-104">
                <a:solidFill>
                  <a:srgbClr val="32323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중학생 가이드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35370" y="715741"/>
            <a:ext cx="3327695" cy="351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6"/>
              </a:lnSpc>
            </a:pPr>
            <a:r>
              <a:rPr lang="en-US" sz="2314" spc="-46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07. </a:t>
            </a:r>
            <a:r>
              <a:rPr lang="en-US" sz="2314" spc="-46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중학생</a:t>
            </a:r>
            <a:r>
              <a:rPr lang="en-US" sz="2314" spc="-46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2314" spc="-46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가이드</a:t>
            </a:r>
            <a:endParaRPr lang="en-US" sz="2314" spc="-46" dirty="0">
              <a:solidFill>
                <a:srgbClr val="323232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7124957" y="3733212"/>
            <a:ext cx="4038087" cy="4038087"/>
            <a:chOff x="0" y="0"/>
            <a:chExt cx="861290" cy="86129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61290" cy="861290"/>
            </a:xfrm>
            <a:custGeom>
              <a:avLst/>
              <a:gdLst/>
              <a:ahLst/>
              <a:cxnLst/>
              <a:rect l="l" t="t" r="r" b="b"/>
              <a:pathLst>
                <a:path w="861290" h="861290">
                  <a:moveTo>
                    <a:pt x="430645" y="0"/>
                  </a:moveTo>
                  <a:lnTo>
                    <a:pt x="861290" y="430645"/>
                  </a:lnTo>
                  <a:lnTo>
                    <a:pt x="430645" y="861290"/>
                  </a:lnTo>
                  <a:lnTo>
                    <a:pt x="0" y="430645"/>
                  </a:lnTo>
                  <a:lnTo>
                    <a:pt x="430645" y="0"/>
                  </a:lnTo>
                  <a:close/>
                </a:path>
              </a:pathLst>
            </a:custGeom>
            <a:solidFill>
              <a:srgbClr val="3CB281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48034" y="119459"/>
              <a:ext cx="575162" cy="593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26"/>
                </a:lnSpc>
              </a:pPr>
              <a:r>
                <a:rPr lang="en-US" sz="3522" b="1" u="sng" dirty="0" err="1">
                  <a:solidFill>
                    <a:srgbClr val="000000"/>
                  </a:solidFill>
                  <a:latin typeface="Nanum Square Bold"/>
                  <a:ea typeface="Nanum Square Bold"/>
                  <a:cs typeface="Nanum Square Bold"/>
                  <a:sym typeface="Nanum Square Bold"/>
                  <a:hlinkClick r:id="rId2" tooltip="https://www.notion.so/2aafc6e2f715803b95beff4e8b2f5eaf"/>
                </a:rPr>
                <a:t>중학생</a:t>
              </a:r>
              <a:r>
                <a:rPr lang="en-US" sz="3522" b="1" u="sng" dirty="0">
                  <a:solidFill>
                    <a:srgbClr val="000000"/>
                  </a:solidFill>
                  <a:latin typeface="Nanum Square Bold"/>
                  <a:ea typeface="Nanum Square Bold"/>
                  <a:cs typeface="Nanum Square Bold"/>
                  <a:sym typeface="Nanum Square Bold"/>
                  <a:hlinkClick r:id="rId2" tooltip="https://www.notion.so/2aafc6e2f715803b95beff4e8b2f5eaf"/>
                </a:rPr>
                <a:t> </a:t>
              </a:r>
              <a:r>
                <a:rPr lang="en-US" sz="3522" b="1" u="sng" dirty="0" err="1">
                  <a:solidFill>
                    <a:srgbClr val="000000"/>
                  </a:solidFill>
                  <a:latin typeface="Nanum Square Bold"/>
                  <a:ea typeface="Nanum Square Bold"/>
                  <a:cs typeface="Nanum Square Bold"/>
                  <a:sym typeface="Nanum Square Bold"/>
                  <a:hlinkClick r:id="rId2" tooltip="https://www.notion.so/2aafc6e2f715803b95beff4e8b2f5eaf"/>
                </a:rPr>
                <a:t>가이드</a:t>
              </a:r>
              <a:endParaRPr lang="en-US" sz="3522" b="1" u="sng" dirty="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  <a:hlinkClick r:id="rId2" tooltip="https://www.notion.so/2aafc6e2f715803b95beff4e8b2f5eaf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614626" y="9499879"/>
            <a:ext cx="495866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37"/>
              </a:lnSpc>
            </a:pPr>
            <a:r>
              <a:rPr lang="en-US" sz="1281" spc="-25">
                <a:solidFill>
                  <a:srgbClr val="545454"/>
                </a:solidFill>
                <a:latin typeface="Nanum Square"/>
                <a:ea typeface="Nanum Square"/>
                <a:cs typeface="Nanum Square"/>
                <a:sym typeface="Nanum Square"/>
              </a:rPr>
              <a:t>00</a:t>
            </a:r>
          </a:p>
        </p:txBody>
      </p:sp>
      <p:sp>
        <p:nvSpPr>
          <p:cNvPr id="3" name="AutoShape 3"/>
          <p:cNvSpPr/>
          <p:nvPr/>
        </p:nvSpPr>
        <p:spPr>
          <a:xfrm flipH="1">
            <a:off x="1368008" y="9614179"/>
            <a:ext cx="15246618" cy="0"/>
          </a:xfrm>
          <a:prstGeom prst="line">
            <a:avLst/>
          </a:prstGeom>
          <a:ln w="9525" cap="flat">
            <a:solidFill>
              <a:srgbClr val="545454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-372308" y="-247428"/>
            <a:ext cx="902116" cy="10846078"/>
            <a:chOff x="0" y="0"/>
            <a:chExt cx="812800" cy="97722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9772240"/>
            </a:xfrm>
            <a:custGeom>
              <a:avLst/>
              <a:gdLst/>
              <a:ahLst/>
              <a:cxnLst/>
              <a:rect l="l" t="t" r="r" b="b"/>
              <a:pathLst>
                <a:path w="812800" h="9772240">
                  <a:moveTo>
                    <a:pt x="0" y="0"/>
                  </a:moveTo>
                  <a:lnTo>
                    <a:pt x="812800" y="0"/>
                  </a:lnTo>
                  <a:lnTo>
                    <a:pt x="812800" y="9772240"/>
                  </a:lnTo>
                  <a:lnTo>
                    <a:pt x="0" y="9772240"/>
                  </a:lnTo>
                  <a:close/>
                </a:path>
              </a:pathLst>
            </a:custGeom>
            <a:solidFill>
              <a:srgbClr val="3CB281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812800" cy="97912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6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378220" y="1154463"/>
            <a:ext cx="6317980" cy="7632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244"/>
              </a:lnSpc>
            </a:pPr>
            <a:r>
              <a:rPr lang="ko-KR" altLang="en-US" sz="4700" b="1" spc="-104" dirty="0">
                <a:solidFill>
                  <a:srgbClr val="32323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프롬프트</a:t>
            </a:r>
            <a:endParaRPr lang="en-US" sz="4700" b="1" spc="-104" dirty="0">
              <a:solidFill>
                <a:srgbClr val="323232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435370" y="715741"/>
            <a:ext cx="3822430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76"/>
              </a:lnSpc>
            </a:pPr>
            <a:r>
              <a:rPr lang="en-US" sz="2314" spc="-46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08. </a:t>
            </a:r>
            <a:r>
              <a:rPr lang="ko-KR" altLang="en-US" sz="2400" dirty="0"/>
              <a:t>서비스 시연 </a:t>
            </a:r>
            <a:r>
              <a:rPr lang="en-US" altLang="ko-KR" sz="2400" dirty="0"/>
              <a:t>(Live Demo)</a:t>
            </a:r>
            <a:endParaRPr lang="en-US" sz="2314" spc="-46" dirty="0">
              <a:solidFill>
                <a:srgbClr val="323232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7238627" y="3733212"/>
            <a:ext cx="3810747" cy="3810747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CB281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39700" y="120650"/>
              <a:ext cx="533400" cy="552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586"/>
                </a:lnSpc>
              </a:pPr>
              <a:r>
                <a:rPr lang="en-US" sz="3822" b="1" u="sng" dirty="0" err="1">
                  <a:solidFill>
                    <a:srgbClr val="000000"/>
                  </a:solidFill>
                  <a:latin typeface="Nanum Square Bold"/>
                  <a:ea typeface="Nanum Square Bold"/>
                  <a:cs typeface="Nanum Square Bold"/>
                  <a:sym typeface="Nanum Square Bold"/>
                  <a:hlinkClick r:id="rId2" tooltip="https://www.notion.so/2aafc6e2f715803292a3e665700111f9"/>
                </a:rPr>
                <a:t>프롬프트</a:t>
              </a:r>
              <a:endParaRPr lang="en-US" sz="3822" b="1" u="sng" dirty="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  <a:hlinkClick r:id="rId2" tooltip="https://www.notion.so/2aafc6e2f715803292a3e665700111f9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614626" y="9499879"/>
            <a:ext cx="495866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37"/>
              </a:lnSpc>
            </a:pPr>
            <a:r>
              <a:rPr lang="en-US" sz="1281" spc="-25">
                <a:solidFill>
                  <a:srgbClr val="545454"/>
                </a:solidFill>
                <a:latin typeface="Nanum Square"/>
                <a:ea typeface="Nanum Square"/>
                <a:cs typeface="Nanum Square"/>
                <a:sym typeface="Nanum Square"/>
              </a:rPr>
              <a:t>00</a:t>
            </a:r>
          </a:p>
        </p:txBody>
      </p:sp>
      <p:sp>
        <p:nvSpPr>
          <p:cNvPr id="3" name="AutoShape 3"/>
          <p:cNvSpPr/>
          <p:nvPr/>
        </p:nvSpPr>
        <p:spPr>
          <a:xfrm flipH="1">
            <a:off x="1368008" y="9614179"/>
            <a:ext cx="15246618" cy="0"/>
          </a:xfrm>
          <a:prstGeom prst="line">
            <a:avLst/>
          </a:prstGeom>
          <a:ln w="9525" cap="flat">
            <a:solidFill>
              <a:srgbClr val="545454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-372308" y="-247428"/>
            <a:ext cx="902116" cy="10846078"/>
            <a:chOff x="0" y="0"/>
            <a:chExt cx="812800" cy="97722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9772240"/>
            </a:xfrm>
            <a:custGeom>
              <a:avLst/>
              <a:gdLst/>
              <a:ahLst/>
              <a:cxnLst/>
              <a:rect l="l" t="t" r="r" b="b"/>
              <a:pathLst>
                <a:path w="812800" h="9772240">
                  <a:moveTo>
                    <a:pt x="0" y="0"/>
                  </a:moveTo>
                  <a:lnTo>
                    <a:pt x="812800" y="0"/>
                  </a:lnTo>
                  <a:lnTo>
                    <a:pt x="812800" y="9772240"/>
                  </a:lnTo>
                  <a:lnTo>
                    <a:pt x="0" y="9772240"/>
                  </a:lnTo>
                  <a:close/>
                </a:path>
              </a:pathLst>
            </a:custGeom>
            <a:solidFill>
              <a:srgbClr val="3CB281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812800" cy="97912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6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378220" y="1154463"/>
            <a:ext cx="4982649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4"/>
              </a:lnSpc>
            </a:pPr>
            <a:r>
              <a:rPr lang="ko-KR" altLang="en-US" sz="5203" b="1" spc="-104" dirty="0">
                <a:solidFill>
                  <a:srgbClr val="32323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경진대회 참가</a:t>
            </a:r>
            <a:endParaRPr lang="en-US" sz="5203" b="1" spc="-104" dirty="0">
              <a:solidFill>
                <a:srgbClr val="323232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435370" y="715741"/>
            <a:ext cx="4508230" cy="3515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76"/>
              </a:lnSpc>
            </a:pPr>
            <a:r>
              <a:rPr lang="en-US" sz="2314" spc="-46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09. </a:t>
            </a:r>
            <a:r>
              <a:rPr lang="ko-KR" altLang="en-US" sz="2314" spc="-46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국민체육 진흥공단경진대회</a:t>
            </a:r>
            <a:r>
              <a:rPr lang="en-US" sz="2314" spc="-46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32D74DA-3E64-46BF-B4AB-326861A494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404" y="2065046"/>
            <a:ext cx="5365192" cy="758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645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614626" y="9499879"/>
            <a:ext cx="495866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37"/>
              </a:lnSpc>
            </a:pPr>
            <a:r>
              <a:rPr lang="en-US" sz="1281" spc="-25">
                <a:solidFill>
                  <a:srgbClr val="545454"/>
                </a:solidFill>
                <a:latin typeface="Nanum Square"/>
                <a:ea typeface="Nanum Square"/>
                <a:cs typeface="Nanum Square"/>
                <a:sym typeface="Nanum Square"/>
              </a:rPr>
              <a:t>00</a:t>
            </a:r>
          </a:p>
        </p:txBody>
      </p:sp>
      <p:sp>
        <p:nvSpPr>
          <p:cNvPr id="3" name="AutoShape 3"/>
          <p:cNvSpPr/>
          <p:nvPr/>
        </p:nvSpPr>
        <p:spPr>
          <a:xfrm flipH="1">
            <a:off x="1368008" y="9614179"/>
            <a:ext cx="15246618" cy="0"/>
          </a:xfrm>
          <a:prstGeom prst="line">
            <a:avLst/>
          </a:prstGeom>
          <a:ln w="9525" cap="flat">
            <a:solidFill>
              <a:srgbClr val="545454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-372308" y="-247428"/>
            <a:ext cx="902116" cy="10846078"/>
            <a:chOff x="0" y="0"/>
            <a:chExt cx="812800" cy="97722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9772240"/>
            </a:xfrm>
            <a:custGeom>
              <a:avLst/>
              <a:gdLst/>
              <a:ahLst/>
              <a:cxnLst/>
              <a:rect l="l" t="t" r="r" b="b"/>
              <a:pathLst>
                <a:path w="812800" h="9772240">
                  <a:moveTo>
                    <a:pt x="0" y="0"/>
                  </a:moveTo>
                  <a:lnTo>
                    <a:pt x="812800" y="0"/>
                  </a:lnTo>
                  <a:lnTo>
                    <a:pt x="812800" y="9772240"/>
                  </a:lnTo>
                  <a:lnTo>
                    <a:pt x="0" y="9772240"/>
                  </a:lnTo>
                  <a:close/>
                </a:path>
              </a:pathLst>
            </a:custGeom>
            <a:solidFill>
              <a:srgbClr val="3CB281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812800" cy="97912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6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378220" y="1154463"/>
            <a:ext cx="4982649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4"/>
              </a:lnSpc>
            </a:pPr>
            <a:r>
              <a:rPr lang="ko-KR" altLang="en-US" sz="5203" b="1" spc="-104" dirty="0">
                <a:solidFill>
                  <a:srgbClr val="32323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경진대회 참가</a:t>
            </a:r>
            <a:endParaRPr lang="en-US" sz="5203" b="1" spc="-104" dirty="0">
              <a:solidFill>
                <a:srgbClr val="323232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435370" y="715741"/>
            <a:ext cx="4508230" cy="3515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76"/>
              </a:lnSpc>
            </a:pPr>
            <a:r>
              <a:rPr lang="en-US" sz="2314" spc="-46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09-1. </a:t>
            </a:r>
            <a:r>
              <a:rPr lang="ko-KR" altLang="en-US" sz="2314" spc="-46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국민체육 진흥공단경진대회</a:t>
            </a:r>
            <a:r>
              <a:rPr lang="en-US" sz="2314" spc="-46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6D08C88-6D0D-4D11-8FE4-3B3E4EAFDA4A}"/>
              </a:ext>
            </a:extLst>
          </p:cNvPr>
          <p:cNvGrpSpPr/>
          <p:nvPr/>
        </p:nvGrpSpPr>
        <p:grpSpPr>
          <a:xfrm>
            <a:off x="7124957" y="3733212"/>
            <a:ext cx="4038087" cy="4038087"/>
            <a:chOff x="0" y="0"/>
            <a:chExt cx="861290" cy="861290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12FF78E8-FDCB-444E-87A9-7714C405CB17}"/>
                </a:ext>
              </a:extLst>
            </p:cNvPr>
            <p:cNvSpPr/>
            <p:nvPr/>
          </p:nvSpPr>
          <p:spPr>
            <a:xfrm>
              <a:off x="0" y="0"/>
              <a:ext cx="861290" cy="861290"/>
            </a:xfrm>
            <a:custGeom>
              <a:avLst/>
              <a:gdLst/>
              <a:ahLst/>
              <a:cxnLst/>
              <a:rect l="l" t="t" r="r" b="b"/>
              <a:pathLst>
                <a:path w="861290" h="861290">
                  <a:moveTo>
                    <a:pt x="430645" y="0"/>
                  </a:moveTo>
                  <a:lnTo>
                    <a:pt x="861290" y="430645"/>
                  </a:lnTo>
                  <a:lnTo>
                    <a:pt x="430645" y="861290"/>
                  </a:lnTo>
                  <a:lnTo>
                    <a:pt x="0" y="430645"/>
                  </a:lnTo>
                  <a:lnTo>
                    <a:pt x="430645" y="0"/>
                  </a:lnTo>
                  <a:close/>
                </a:path>
              </a:pathLst>
            </a:custGeom>
            <a:solidFill>
              <a:srgbClr val="3CB281"/>
            </a:solidFill>
          </p:spPr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1CA0ABF-DF42-436F-B792-F80F35B10E6D}"/>
                </a:ext>
              </a:extLst>
            </p:cNvPr>
            <p:cNvSpPr txBox="1"/>
            <p:nvPr/>
          </p:nvSpPr>
          <p:spPr>
            <a:xfrm>
              <a:off x="148034" y="119459"/>
              <a:ext cx="565221" cy="593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26"/>
                </a:lnSpc>
              </a:pPr>
              <a:r>
                <a:rPr lang="ko-KR" altLang="en-US" sz="3522" dirty="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  <a:hlinkClick r:id="rId2"/>
                </a:rPr>
                <a:t>경진대회</a:t>
              </a:r>
              <a:endParaRPr lang="en-US" sz="3522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9206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614626" y="9499879"/>
            <a:ext cx="495866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37"/>
              </a:lnSpc>
            </a:pPr>
            <a:r>
              <a:rPr lang="en-US" sz="1281" spc="-25">
                <a:solidFill>
                  <a:srgbClr val="545454"/>
                </a:solidFill>
                <a:latin typeface="Nanum Square"/>
                <a:ea typeface="Nanum Square"/>
                <a:cs typeface="Nanum Square"/>
                <a:sym typeface="Nanum Square"/>
              </a:rPr>
              <a:t>00</a:t>
            </a:r>
          </a:p>
        </p:txBody>
      </p:sp>
      <p:sp>
        <p:nvSpPr>
          <p:cNvPr id="3" name="AutoShape 3"/>
          <p:cNvSpPr/>
          <p:nvPr/>
        </p:nvSpPr>
        <p:spPr>
          <a:xfrm flipH="1">
            <a:off x="1368008" y="9614179"/>
            <a:ext cx="15246618" cy="0"/>
          </a:xfrm>
          <a:prstGeom prst="line">
            <a:avLst/>
          </a:prstGeom>
          <a:ln w="9525" cap="flat">
            <a:solidFill>
              <a:srgbClr val="545454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-372308" y="-247428"/>
            <a:ext cx="902116" cy="10846078"/>
            <a:chOff x="0" y="0"/>
            <a:chExt cx="812800" cy="97722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9772240"/>
            </a:xfrm>
            <a:custGeom>
              <a:avLst/>
              <a:gdLst/>
              <a:ahLst/>
              <a:cxnLst/>
              <a:rect l="l" t="t" r="r" b="b"/>
              <a:pathLst>
                <a:path w="812800" h="9772240">
                  <a:moveTo>
                    <a:pt x="0" y="0"/>
                  </a:moveTo>
                  <a:lnTo>
                    <a:pt x="812800" y="0"/>
                  </a:lnTo>
                  <a:lnTo>
                    <a:pt x="812800" y="9772240"/>
                  </a:lnTo>
                  <a:lnTo>
                    <a:pt x="0" y="9772240"/>
                  </a:lnTo>
                  <a:close/>
                </a:path>
              </a:pathLst>
            </a:custGeom>
            <a:solidFill>
              <a:srgbClr val="3CB281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812800" cy="97912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6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78220" y="2693949"/>
            <a:ext cx="15881080" cy="6390796"/>
            <a:chOff x="0" y="0"/>
            <a:chExt cx="14146956" cy="569295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146957" cy="5692958"/>
            </a:xfrm>
            <a:custGeom>
              <a:avLst/>
              <a:gdLst/>
              <a:ahLst/>
              <a:cxnLst/>
              <a:rect l="l" t="t" r="r" b="b"/>
              <a:pathLst>
                <a:path w="14146957" h="5692958">
                  <a:moveTo>
                    <a:pt x="0" y="0"/>
                  </a:moveTo>
                  <a:lnTo>
                    <a:pt x="14146957" y="0"/>
                  </a:lnTo>
                  <a:lnTo>
                    <a:pt x="14146957" y="5692958"/>
                  </a:lnTo>
                  <a:lnTo>
                    <a:pt x="0" y="56929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3CB281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14146956" cy="5712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6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5400000">
            <a:off x="9257119" y="-5308232"/>
            <a:ext cx="123281" cy="15881080"/>
            <a:chOff x="0" y="0"/>
            <a:chExt cx="107081" cy="1379418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7081" cy="13794186"/>
            </a:xfrm>
            <a:custGeom>
              <a:avLst/>
              <a:gdLst/>
              <a:ahLst/>
              <a:cxnLst/>
              <a:rect l="l" t="t" r="r" b="b"/>
              <a:pathLst>
                <a:path w="107081" h="13794186">
                  <a:moveTo>
                    <a:pt x="0" y="0"/>
                  </a:moveTo>
                  <a:lnTo>
                    <a:pt x="107081" y="0"/>
                  </a:lnTo>
                  <a:lnTo>
                    <a:pt x="107081" y="13794186"/>
                  </a:lnTo>
                  <a:lnTo>
                    <a:pt x="0" y="13794186"/>
                  </a:lnTo>
                  <a:close/>
                </a:path>
              </a:pathLst>
            </a:custGeom>
            <a:solidFill>
              <a:srgbClr val="3CB281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107081" cy="138132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6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78220" y="1154463"/>
            <a:ext cx="8680180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244"/>
              </a:lnSpc>
            </a:pPr>
            <a:r>
              <a:rPr lang="ko-KR" altLang="en-US" sz="5400" dirty="0"/>
              <a:t>데이터로 만드는 </a:t>
            </a:r>
            <a:r>
              <a:rPr lang="ko-KR" altLang="en-US" sz="5200" dirty="0"/>
              <a:t>건강한</a:t>
            </a:r>
            <a:r>
              <a:rPr lang="ko-KR" altLang="en-US" sz="5400" dirty="0"/>
              <a:t> 일상</a:t>
            </a:r>
            <a:endParaRPr lang="en-US" sz="5203" b="1" spc="-104" dirty="0">
              <a:solidFill>
                <a:srgbClr val="323232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435370" y="715741"/>
            <a:ext cx="3898630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76"/>
              </a:lnSpc>
            </a:pPr>
            <a:r>
              <a:rPr lang="en-US" sz="2314" spc="-46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06. </a:t>
            </a:r>
            <a:r>
              <a:rPr lang="en-US" altLang="ko-KR" sz="2400" dirty="0"/>
              <a:t>6:</a:t>
            </a:r>
            <a:endParaRPr lang="en-US" sz="2314" spc="-46" dirty="0">
              <a:solidFill>
                <a:srgbClr val="323232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934147" y="3086565"/>
            <a:ext cx="6226185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99"/>
              </a:lnSpc>
            </a:pPr>
            <a:r>
              <a:rPr lang="ko-KR" altLang="en-US" sz="3600" dirty="0"/>
              <a:t>활용성</a:t>
            </a:r>
            <a:r>
              <a:rPr lang="en-US" altLang="ko-KR" sz="3600" dirty="0"/>
              <a:t>:</a:t>
            </a:r>
            <a:endParaRPr lang="en-US" sz="3499" b="1" spc="-69" dirty="0">
              <a:solidFill>
                <a:srgbClr val="323232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934147" y="3596152"/>
            <a:ext cx="11096346" cy="474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16"/>
              </a:lnSpc>
            </a:pPr>
            <a:r>
              <a:rPr lang="ko-KR" altLang="en-US" sz="3200" dirty="0"/>
              <a:t>공공 체육시설 이용 활성화 및 국민 건강 데이터 확보</a:t>
            </a:r>
            <a:endParaRPr lang="en-US" sz="3096" spc="-61" dirty="0">
              <a:solidFill>
                <a:srgbClr val="323232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934147" y="5360710"/>
            <a:ext cx="6226185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3499" b="1" spc="-69">
                <a:solidFill>
                  <a:srgbClr val="32323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25년 11월 14일~16일</a:t>
            </a:r>
          </a:p>
          <a:p>
            <a:pPr algn="l">
              <a:lnSpc>
                <a:spcPts val="3959"/>
              </a:lnSpc>
            </a:pPr>
            <a:endParaRPr lang="en-US" sz="3499" b="1" spc="-69">
              <a:solidFill>
                <a:srgbClr val="323232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934147" y="5872627"/>
            <a:ext cx="10493829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spc="-6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김 산, 이예진ㅣ주제를 선정한걸 바탕으로 개발 진행(요약)</a:t>
            </a:r>
          </a:p>
          <a:p>
            <a:pPr algn="l">
              <a:lnSpc>
                <a:spcPts val="2324"/>
              </a:lnSpc>
            </a:pPr>
            <a:endParaRPr lang="en-US" sz="3099" spc="-61">
              <a:solidFill>
                <a:srgbClr val="323232"/>
              </a:solidFill>
              <a:latin typeface="Nanum Square"/>
              <a:ea typeface="Nanum Square"/>
              <a:cs typeface="Nanum Square"/>
              <a:sym typeface="Nanum Square"/>
            </a:endParaRPr>
          </a:p>
          <a:p>
            <a:pPr algn="l">
              <a:lnSpc>
                <a:spcPts val="2324"/>
              </a:lnSpc>
            </a:pPr>
            <a:endParaRPr lang="en-US" sz="3099" spc="-61">
              <a:solidFill>
                <a:srgbClr val="323232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934147" y="7017122"/>
            <a:ext cx="6226185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3499" b="1" spc="-69">
                <a:solidFill>
                  <a:srgbClr val="32323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25년 11월 16일~19일</a:t>
            </a:r>
          </a:p>
          <a:p>
            <a:pPr algn="l">
              <a:lnSpc>
                <a:spcPts val="3959"/>
              </a:lnSpc>
            </a:pPr>
            <a:endParaRPr lang="en-US" sz="3499" b="1" spc="-69">
              <a:solidFill>
                <a:srgbClr val="323232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934147" y="7526710"/>
            <a:ext cx="11346354" cy="805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spc="-61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강민우</a:t>
            </a:r>
            <a:r>
              <a:rPr lang="en-US" sz="3099" spc="-61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3099" spc="-61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ㅣ프롬프트및</a:t>
            </a:r>
            <a:r>
              <a:rPr lang="en-US" sz="3099" spc="-61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3099" spc="-61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제작툴,문서</a:t>
            </a:r>
            <a:r>
              <a:rPr lang="en-US" sz="3099" spc="-61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3099" spc="-61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정리</a:t>
            </a:r>
            <a:r>
              <a:rPr lang="en-US" sz="3099" spc="-61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및 </a:t>
            </a:r>
            <a:r>
              <a:rPr lang="en-US" sz="3099" spc="-61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PPT제작,발표</a:t>
            </a:r>
            <a:r>
              <a:rPr lang="en-US" sz="3099" spc="-61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3099" spc="-61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진행</a:t>
            </a:r>
            <a:endParaRPr lang="en-US" sz="3099" spc="-61" dirty="0">
              <a:solidFill>
                <a:srgbClr val="323232"/>
              </a:solidFill>
              <a:latin typeface="Nanum Square"/>
              <a:ea typeface="Nanum Square"/>
              <a:cs typeface="Nanum Square"/>
              <a:sym typeface="Nanum Square"/>
            </a:endParaRPr>
          </a:p>
          <a:p>
            <a:pPr algn="l">
              <a:lnSpc>
                <a:spcPts val="2324"/>
              </a:lnSpc>
            </a:pPr>
            <a:endParaRPr lang="en-US" sz="3099" spc="-61" dirty="0">
              <a:solidFill>
                <a:srgbClr val="323232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</p:spTree>
    <p:extLst>
      <p:ext uri="{BB962C8B-B14F-4D97-AF65-F5344CB8AC3E}">
        <p14:creationId xmlns:p14="http://schemas.microsoft.com/office/powerpoint/2010/main" val="40878564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62311" y="0"/>
            <a:ext cx="10525689" cy="9052917"/>
            <a:chOff x="0" y="0"/>
            <a:chExt cx="1771007" cy="17940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71007" cy="1794055"/>
            </a:xfrm>
            <a:custGeom>
              <a:avLst/>
              <a:gdLst/>
              <a:ahLst/>
              <a:cxnLst/>
              <a:rect l="l" t="t" r="r" b="b"/>
              <a:pathLst>
                <a:path w="1771007" h="1794055">
                  <a:moveTo>
                    <a:pt x="0" y="0"/>
                  </a:moveTo>
                  <a:lnTo>
                    <a:pt x="1771007" y="0"/>
                  </a:lnTo>
                  <a:lnTo>
                    <a:pt x="1771007" y="1794055"/>
                  </a:lnTo>
                  <a:lnTo>
                    <a:pt x="0" y="1794055"/>
                  </a:lnTo>
                  <a:close/>
                </a:path>
              </a:pathLst>
            </a:custGeom>
            <a:solidFill>
              <a:srgbClr val="F0F0F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771007" cy="18035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6909212" y="9536111"/>
            <a:ext cx="495866" cy="1923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537"/>
              </a:lnSpc>
            </a:pPr>
            <a:r>
              <a:rPr lang="en-US" sz="1281" spc="-25">
                <a:solidFill>
                  <a:srgbClr val="545454"/>
                </a:solidFill>
                <a:latin typeface="Nanum Square"/>
                <a:ea typeface="Nanum Square"/>
                <a:cs typeface="Nanum Square"/>
                <a:sym typeface="Nanum Square"/>
              </a:rPr>
              <a:t>00</a:t>
            </a:r>
          </a:p>
        </p:txBody>
      </p:sp>
      <p:sp>
        <p:nvSpPr>
          <p:cNvPr id="6" name="AutoShape 6"/>
          <p:cNvSpPr/>
          <p:nvPr/>
        </p:nvSpPr>
        <p:spPr>
          <a:xfrm flipH="1">
            <a:off x="1368008" y="9614179"/>
            <a:ext cx="15246618" cy="0"/>
          </a:xfrm>
          <a:prstGeom prst="line">
            <a:avLst/>
          </a:prstGeom>
          <a:ln w="9525" cap="flat">
            <a:solidFill>
              <a:srgbClr val="545454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7792601" y="2723501"/>
            <a:ext cx="10489246" cy="1779780"/>
            <a:chOff x="0" y="0"/>
            <a:chExt cx="1986755" cy="32789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86755" cy="327897"/>
            </a:xfrm>
            <a:custGeom>
              <a:avLst/>
              <a:gdLst/>
              <a:ahLst/>
              <a:cxnLst/>
              <a:rect l="l" t="t" r="r" b="b"/>
              <a:pathLst>
                <a:path w="1986755" h="327897">
                  <a:moveTo>
                    <a:pt x="0" y="0"/>
                  </a:moveTo>
                  <a:lnTo>
                    <a:pt x="1986755" y="0"/>
                  </a:lnTo>
                  <a:lnTo>
                    <a:pt x="1986755" y="327897"/>
                  </a:lnTo>
                  <a:lnTo>
                    <a:pt x="0" y="327897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1986755" cy="337422"/>
            </a:xfrm>
            <a:prstGeom prst="rect">
              <a:avLst/>
            </a:prstGeom>
          </p:spPr>
          <p:txBody>
            <a:bodyPr lIns="51960" tIns="51960" rIns="51960" bIns="51960" rtlCol="0" anchor="ctr"/>
            <a:lstStyle/>
            <a:p>
              <a:pPr algn="ctr">
                <a:lnSpc>
                  <a:spcPts val="2427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8028317" y="2749725"/>
            <a:ext cx="9929937" cy="19141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84"/>
              </a:lnSpc>
            </a:pPr>
            <a:r>
              <a:rPr lang="en-US" sz="2441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"</a:t>
            </a:r>
            <a:r>
              <a:rPr lang="en-US" sz="2441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기획부터</a:t>
            </a:r>
            <a:r>
              <a:rPr lang="en-US" sz="2441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2441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개발까지</a:t>
            </a:r>
            <a:r>
              <a:rPr lang="en-US" sz="2441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전 </a:t>
            </a:r>
            <a:r>
              <a:rPr lang="en-US" sz="2441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과정을</a:t>
            </a:r>
            <a:r>
              <a:rPr lang="en-US" sz="2441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2441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경험하며</a:t>
            </a:r>
            <a:r>
              <a:rPr lang="en-US" sz="2441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2441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하이브리드</a:t>
            </a:r>
            <a:r>
              <a:rPr lang="en-US" sz="2441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2441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앱의</a:t>
            </a:r>
            <a:r>
              <a:rPr lang="en-US" sz="2441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2441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구조를</a:t>
            </a:r>
            <a:r>
              <a:rPr lang="en-US" sz="2441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2441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깊이</a:t>
            </a:r>
            <a:r>
              <a:rPr lang="en-US" sz="2441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2441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이해했습니다</a:t>
            </a:r>
            <a:r>
              <a:rPr lang="en-US" sz="2441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. </a:t>
            </a:r>
            <a:r>
              <a:rPr lang="en-US" sz="2441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팀원들과의</a:t>
            </a:r>
            <a:r>
              <a:rPr lang="en-US" sz="2441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2441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소통을</a:t>
            </a:r>
            <a:r>
              <a:rPr lang="en-US" sz="2441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2441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통해</a:t>
            </a:r>
            <a:r>
              <a:rPr lang="en-US" sz="2441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2441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기술적</a:t>
            </a:r>
            <a:r>
              <a:rPr lang="en-US" sz="2441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2441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문제를</a:t>
            </a:r>
            <a:r>
              <a:rPr lang="en-US" sz="2441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2441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해결해</a:t>
            </a:r>
            <a:r>
              <a:rPr lang="en-US" sz="2441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2441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나가는</a:t>
            </a:r>
            <a:r>
              <a:rPr lang="en-US" sz="2441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2441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과정이</a:t>
            </a:r>
            <a:r>
              <a:rPr lang="en-US" sz="2441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2441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가장</a:t>
            </a:r>
            <a:r>
              <a:rPr lang="en-US" sz="2441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2441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보람찼습니다</a:t>
            </a:r>
            <a:r>
              <a:rPr lang="en-US" sz="2441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."</a:t>
            </a:r>
          </a:p>
          <a:p>
            <a:pPr algn="l">
              <a:lnSpc>
                <a:spcPts val="3784"/>
              </a:lnSpc>
            </a:pPr>
            <a:endParaRPr lang="en-US" sz="2441" dirty="0">
              <a:solidFill>
                <a:srgbClr val="323232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7792601" y="4678577"/>
            <a:ext cx="10489246" cy="2018555"/>
            <a:chOff x="0" y="0"/>
            <a:chExt cx="1986755" cy="37188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86755" cy="371888"/>
            </a:xfrm>
            <a:custGeom>
              <a:avLst/>
              <a:gdLst/>
              <a:ahLst/>
              <a:cxnLst/>
              <a:rect l="l" t="t" r="r" b="b"/>
              <a:pathLst>
                <a:path w="1986755" h="371888">
                  <a:moveTo>
                    <a:pt x="0" y="0"/>
                  </a:moveTo>
                  <a:lnTo>
                    <a:pt x="1986755" y="0"/>
                  </a:lnTo>
                  <a:lnTo>
                    <a:pt x="1986755" y="371888"/>
                  </a:lnTo>
                  <a:lnTo>
                    <a:pt x="0" y="371888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986755" cy="381413"/>
            </a:xfrm>
            <a:prstGeom prst="rect">
              <a:avLst/>
            </a:prstGeom>
          </p:spPr>
          <p:txBody>
            <a:bodyPr lIns="51960" tIns="51960" rIns="51960" bIns="51960" rtlCol="0" anchor="ctr"/>
            <a:lstStyle/>
            <a:p>
              <a:pPr algn="ctr">
                <a:lnSpc>
                  <a:spcPts val="2427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028317" y="4765733"/>
            <a:ext cx="9624454" cy="14271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28"/>
              </a:lnSpc>
            </a:pPr>
            <a:r>
              <a:rPr lang="en-US" sz="2470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"</a:t>
            </a:r>
            <a:r>
              <a:rPr lang="en-US" sz="2470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주요</a:t>
            </a:r>
            <a:r>
              <a:rPr lang="en-US" sz="2470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2470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기능</a:t>
            </a:r>
            <a:r>
              <a:rPr lang="en-US" sz="2470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2470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구현과</a:t>
            </a:r>
            <a:r>
              <a:rPr lang="en-US" sz="2470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UI/UX </a:t>
            </a:r>
            <a:r>
              <a:rPr lang="en-US" sz="2470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개선에</a:t>
            </a:r>
            <a:r>
              <a:rPr lang="en-US" sz="2470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2470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집중했습니다</a:t>
            </a:r>
            <a:r>
              <a:rPr lang="en-US" sz="2470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. </a:t>
            </a:r>
            <a:r>
              <a:rPr lang="en-US" sz="2470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사용자</a:t>
            </a:r>
            <a:r>
              <a:rPr lang="en-US" sz="2470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2470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관점에서</a:t>
            </a:r>
            <a:r>
              <a:rPr lang="en-US" sz="2470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2470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끊임없이</a:t>
            </a:r>
            <a:r>
              <a:rPr lang="en-US" sz="2470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2470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고민하며</a:t>
            </a:r>
            <a:r>
              <a:rPr lang="en-US" sz="2470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, </a:t>
            </a:r>
            <a:r>
              <a:rPr lang="en-US" sz="2470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작은</a:t>
            </a:r>
            <a:r>
              <a:rPr lang="en-US" sz="2470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2470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디테일</a:t>
            </a:r>
            <a:r>
              <a:rPr lang="en-US" sz="2470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2470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하나가</a:t>
            </a:r>
            <a:r>
              <a:rPr lang="en-US" sz="2470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2470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앱의</a:t>
            </a:r>
            <a:r>
              <a:rPr lang="en-US" sz="2470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2470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완성도를</a:t>
            </a:r>
            <a:r>
              <a:rPr lang="en-US" sz="2470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2470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결정한다는</a:t>
            </a:r>
            <a:r>
              <a:rPr lang="en-US" sz="2470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2470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것을</a:t>
            </a:r>
            <a:r>
              <a:rPr lang="en-US" sz="2470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2470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배웠습니다</a:t>
            </a:r>
            <a:r>
              <a:rPr lang="en-US" sz="2470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."</a:t>
            </a:r>
          </a:p>
          <a:p>
            <a:pPr algn="l">
              <a:lnSpc>
                <a:spcPts val="3828"/>
              </a:lnSpc>
            </a:pPr>
            <a:endParaRPr lang="en-US" sz="2470" dirty="0">
              <a:solidFill>
                <a:srgbClr val="323232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7798755" y="6887192"/>
            <a:ext cx="10489246" cy="1989680"/>
            <a:chOff x="0" y="0"/>
            <a:chExt cx="1986755" cy="36656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86755" cy="366568"/>
            </a:xfrm>
            <a:custGeom>
              <a:avLst/>
              <a:gdLst/>
              <a:ahLst/>
              <a:cxnLst/>
              <a:rect l="l" t="t" r="r" b="b"/>
              <a:pathLst>
                <a:path w="1986755" h="366568">
                  <a:moveTo>
                    <a:pt x="0" y="0"/>
                  </a:moveTo>
                  <a:lnTo>
                    <a:pt x="1986755" y="0"/>
                  </a:lnTo>
                  <a:lnTo>
                    <a:pt x="1986755" y="366568"/>
                  </a:lnTo>
                  <a:lnTo>
                    <a:pt x="0" y="366568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1986755" cy="376093"/>
            </a:xfrm>
            <a:prstGeom prst="rect">
              <a:avLst/>
            </a:prstGeom>
          </p:spPr>
          <p:txBody>
            <a:bodyPr lIns="51960" tIns="51960" rIns="51960" bIns="51960" rtlCol="0" anchor="ctr"/>
            <a:lstStyle/>
            <a:p>
              <a:pPr algn="ctr">
                <a:lnSpc>
                  <a:spcPts val="2427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8034471" y="6972375"/>
            <a:ext cx="9929937" cy="19151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28"/>
              </a:lnSpc>
            </a:pPr>
            <a:r>
              <a:rPr lang="en-US" sz="247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"개발 팀원들이 구현에 집중할 수 있도록 문서화와 발표 준비를 전담했습니다. </a:t>
            </a:r>
          </a:p>
          <a:p>
            <a:pPr algn="l">
              <a:lnSpc>
                <a:spcPts val="3828"/>
              </a:lnSpc>
            </a:pPr>
            <a:r>
              <a:rPr lang="en-US" sz="247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프로젝트의 가치를 효과적으로 전달하는 커뮤니케이션의 중요성을 깊이 배웠습니다."</a:t>
            </a:r>
          </a:p>
          <a:p>
            <a:pPr algn="l">
              <a:lnSpc>
                <a:spcPts val="3828"/>
              </a:lnSpc>
            </a:pPr>
            <a:endParaRPr lang="en-US" sz="2470">
              <a:solidFill>
                <a:srgbClr val="323232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432448" y="3181594"/>
            <a:ext cx="1196860" cy="8365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83"/>
              </a:lnSpc>
            </a:pPr>
            <a:r>
              <a:rPr lang="en-US" sz="4552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김 산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-372308" y="-247428"/>
            <a:ext cx="902116" cy="10846078"/>
            <a:chOff x="0" y="0"/>
            <a:chExt cx="812800" cy="97722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9772240"/>
            </a:xfrm>
            <a:custGeom>
              <a:avLst/>
              <a:gdLst/>
              <a:ahLst/>
              <a:cxnLst/>
              <a:rect l="l" t="t" r="r" b="b"/>
              <a:pathLst>
                <a:path w="812800" h="9772240">
                  <a:moveTo>
                    <a:pt x="0" y="0"/>
                  </a:moveTo>
                  <a:lnTo>
                    <a:pt x="812800" y="0"/>
                  </a:lnTo>
                  <a:lnTo>
                    <a:pt x="812800" y="9772240"/>
                  </a:lnTo>
                  <a:lnTo>
                    <a:pt x="0" y="9772240"/>
                  </a:lnTo>
                  <a:close/>
                </a:path>
              </a:pathLst>
            </a:custGeom>
            <a:solidFill>
              <a:srgbClr val="3CB281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812800" cy="97912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6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378220" y="1154463"/>
            <a:ext cx="6125947" cy="7486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244"/>
              </a:lnSpc>
            </a:pPr>
            <a:r>
              <a:rPr lang="ko-KR" altLang="en-US" sz="3800" b="1" dirty="0"/>
              <a:t>데이터로 만드는 건강한 일상</a:t>
            </a:r>
            <a:endParaRPr lang="en-US" sz="3800" b="1" spc="-104" dirty="0">
              <a:solidFill>
                <a:srgbClr val="323232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435370" y="715741"/>
            <a:ext cx="3327695" cy="351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76"/>
              </a:lnSpc>
            </a:pPr>
            <a:r>
              <a:rPr lang="en-US" sz="2314" spc="-46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06. </a:t>
            </a:r>
            <a:r>
              <a:rPr lang="ko-KR" altLang="en-US" sz="2000" dirty="0"/>
              <a:t>기대 효과 및 팀 </a:t>
            </a:r>
            <a:r>
              <a:rPr lang="en-US" altLang="ko-KR" sz="2000" dirty="0"/>
              <a:t>(Outro)</a:t>
            </a:r>
            <a:endParaRPr lang="en-US" sz="2314" spc="-46" dirty="0">
              <a:solidFill>
                <a:srgbClr val="323232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  <p:grpSp>
        <p:nvGrpSpPr>
          <p:cNvPr id="25" name="Group 25"/>
          <p:cNvGrpSpPr/>
          <p:nvPr/>
        </p:nvGrpSpPr>
        <p:grpSpPr>
          <a:xfrm>
            <a:off x="7792600" y="2723501"/>
            <a:ext cx="116237" cy="1777391"/>
            <a:chOff x="0" y="0"/>
            <a:chExt cx="84266" cy="128852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4266" cy="1288522"/>
            </a:xfrm>
            <a:custGeom>
              <a:avLst/>
              <a:gdLst/>
              <a:ahLst/>
              <a:cxnLst/>
              <a:rect l="l" t="t" r="r" b="b"/>
              <a:pathLst>
                <a:path w="84266" h="1288522">
                  <a:moveTo>
                    <a:pt x="0" y="0"/>
                  </a:moveTo>
                  <a:lnTo>
                    <a:pt x="84266" y="0"/>
                  </a:lnTo>
                  <a:lnTo>
                    <a:pt x="84266" y="1288522"/>
                  </a:lnTo>
                  <a:lnTo>
                    <a:pt x="0" y="1288522"/>
                  </a:lnTo>
                  <a:close/>
                </a:path>
              </a:pathLst>
            </a:custGeom>
            <a:solidFill>
              <a:srgbClr val="3CB281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84266" cy="1307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6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792600" y="4681829"/>
            <a:ext cx="116237" cy="2015845"/>
            <a:chOff x="0" y="0"/>
            <a:chExt cx="84266" cy="1461391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4266" cy="1461391"/>
            </a:xfrm>
            <a:custGeom>
              <a:avLst/>
              <a:gdLst/>
              <a:ahLst/>
              <a:cxnLst/>
              <a:rect l="l" t="t" r="r" b="b"/>
              <a:pathLst>
                <a:path w="84266" h="1461391">
                  <a:moveTo>
                    <a:pt x="0" y="0"/>
                  </a:moveTo>
                  <a:lnTo>
                    <a:pt x="84266" y="0"/>
                  </a:lnTo>
                  <a:lnTo>
                    <a:pt x="84266" y="1461391"/>
                  </a:lnTo>
                  <a:lnTo>
                    <a:pt x="0" y="1461391"/>
                  </a:lnTo>
                  <a:close/>
                </a:path>
              </a:pathLst>
            </a:custGeom>
            <a:solidFill>
              <a:srgbClr val="3CB281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84266" cy="14804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6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798754" y="6887192"/>
            <a:ext cx="116237" cy="1987009"/>
            <a:chOff x="0" y="0"/>
            <a:chExt cx="84266" cy="144048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4266" cy="1440486"/>
            </a:xfrm>
            <a:custGeom>
              <a:avLst/>
              <a:gdLst/>
              <a:ahLst/>
              <a:cxnLst/>
              <a:rect l="l" t="t" r="r" b="b"/>
              <a:pathLst>
                <a:path w="84266" h="1440486">
                  <a:moveTo>
                    <a:pt x="0" y="0"/>
                  </a:moveTo>
                  <a:lnTo>
                    <a:pt x="84266" y="0"/>
                  </a:lnTo>
                  <a:lnTo>
                    <a:pt x="84266" y="1440486"/>
                  </a:lnTo>
                  <a:lnTo>
                    <a:pt x="0" y="1440486"/>
                  </a:lnTo>
                  <a:close/>
                </a:path>
              </a:pathLst>
            </a:custGeom>
            <a:solidFill>
              <a:srgbClr val="3CB281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19050"/>
              <a:ext cx="84266" cy="1459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6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6050764" y="5249970"/>
            <a:ext cx="1578544" cy="8365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83"/>
              </a:lnSpc>
            </a:pPr>
            <a:r>
              <a:rPr lang="en-US" sz="4552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이예진</a:t>
            </a:r>
            <a:endParaRPr lang="en-US" sz="4552" dirty="0">
              <a:solidFill>
                <a:srgbClr val="323232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6047687" y="7462440"/>
            <a:ext cx="1578544" cy="8365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83"/>
              </a:lnSpc>
            </a:pPr>
            <a:r>
              <a:rPr lang="en-US" sz="4552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강민우</a:t>
            </a:r>
            <a:endParaRPr lang="en-US" sz="4552" dirty="0">
              <a:solidFill>
                <a:srgbClr val="323232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  <p:grpSp>
        <p:nvGrpSpPr>
          <p:cNvPr id="55" name="Group 7">
            <a:extLst>
              <a:ext uri="{FF2B5EF4-FFF2-40B4-BE49-F238E27FC236}">
                <a16:creationId xmlns:a16="http://schemas.microsoft.com/office/drawing/2014/main" id="{F9D0D113-B744-4CE6-855A-3C84198336AF}"/>
              </a:ext>
            </a:extLst>
          </p:cNvPr>
          <p:cNvGrpSpPr/>
          <p:nvPr/>
        </p:nvGrpSpPr>
        <p:grpSpPr>
          <a:xfrm>
            <a:off x="7769409" y="970842"/>
            <a:ext cx="10525690" cy="1565722"/>
            <a:chOff x="0" y="0"/>
            <a:chExt cx="1986755" cy="327897"/>
          </a:xfrm>
        </p:grpSpPr>
        <p:sp>
          <p:nvSpPr>
            <p:cNvPr id="56" name="Freeform 8">
              <a:extLst>
                <a:ext uri="{FF2B5EF4-FFF2-40B4-BE49-F238E27FC236}">
                  <a16:creationId xmlns:a16="http://schemas.microsoft.com/office/drawing/2014/main" id="{B2BD1567-DBBA-449E-9823-84431542163C}"/>
                </a:ext>
              </a:extLst>
            </p:cNvPr>
            <p:cNvSpPr/>
            <p:nvPr/>
          </p:nvSpPr>
          <p:spPr>
            <a:xfrm>
              <a:off x="0" y="0"/>
              <a:ext cx="1986755" cy="327897"/>
            </a:xfrm>
            <a:custGeom>
              <a:avLst/>
              <a:gdLst/>
              <a:ahLst/>
              <a:cxnLst/>
              <a:rect l="l" t="t" r="r" b="b"/>
              <a:pathLst>
                <a:path w="1986755" h="327897">
                  <a:moveTo>
                    <a:pt x="0" y="0"/>
                  </a:moveTo>
                  <a:lnTo>
                    <a:pt x="1986755" y="0"/>
                  </a:lnTo>
                  <a:lnTo>
                    <a:pt x="1986755" y="327897"/>
                  </a:lnTo>
                  <a:lnTo>
                    <a:pt x="0" y="327897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57" name="TextBox 9">
              <a:extLst>
                <a:ext uri="{FF2B5EF4-FFF2-40B4-BE49-F238E27FC236}">
                  <a16:creationId xmlns:a16="http://schemas.microsoft.com/office/drawing/2014/main" id="{1B2EDEAA-55FB-47B6-8692-629CBEAF2B53}"/>
                </a:ext>
              </a:extLst>
            </p:cNvPr>
            <p:cNvSpPr txBox="1"/>
            <p:nvPr/>
          </p:nvSpPr>
          <p:spPr>
            <a:xfrm>
              <a:off x="0" y="-9525"/>
              <a:ext cx="1986755" cy="337422"/>
            </a:xfrm>
            <a:prstGeom prst="rect">
              <a:avLst/>
            </a:prstGeom>
          </p:spPr>
          <p:txBody>
            <a:bodyPr lIns="51960" tIns="51960" rIns="51960" bIns="51960" rtlCol="0" anchor="ctr"/>
            <a:lstStyle/>
            <a:p>
              <a:pPr algn="ctr">
                <a:lnSpc>
                  <a:spcPts val="2427"/>
                </a:lnSpc>
              </a:pPr>
              <a:endParaRPr/>
            </a:p>
          </p:txBody>
        </p:sp>
      </p:grpSp>
      <p:sp>
        <p:nvSpPr>
          <p:cNvPr id="58" name="TextBox 10">
            <a:extLst>
              <a:ext uri="{FF2B5EF4-FFF2-40B4-BE49-F238E27FC236}">
                <a16:creationId xmlns:a16="http://schemas.microsoft.com/office/drawing/2014/main" id="{DEE6B6DC-F3E1-46AA-A62D-C28659DB783C}"/>
              </a:ext>
            </a:extLst>
          </p:cNvPr>
          <p:cNvSpPr txBox="1"/>
          <p:nvPr/>
        </p:nvSpPr>
        <p:spPr>
          <a:xfrm>
            <a:off x="8036346" y="1028102"/>
            <a:ext cx="10258753" cy="14213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84"/>
              </a:lnSpc>
            </a:pPr>
            <a:r>
              <a:rPr lang="ko-KR" altLang="en-US" sz="2440" b="1" dirty="0"/>
              <a:t>활용성</a:t>
            </a:r>
            <a:r>
              <a:rPr lang="en-US" altLang="ko-KR" sz="2440" b="1" dirty="0"/>
              <a:t>:</a:t>
            </a:r>
            <a:r>
              <a:rPr lang="ko-KR" altLang="en-US" sz="2440" dirty="0"/>
              <a:t> 공공 체육시설 이용 활성화 및 국민 건강 데이터 확보</a:t>
            </a:r>
            <a:endParaRPr lang="en-US" altLang="ko-KR" sz="2440" dirty="0"/>
          </a:p>
          <a:p>
            <a:pPr>
              <a:lnSpc>
                <a:spcPts val="3784"/>
              </a:lnSpc>
            </a:pPr>
            <a:r>
              <a:rPr lang="ko-KR" altLang="en-US" sz="2440" b="1" dirty="0"/>
              <a:t>팀 소감</a:t>
            </a:r>
            <a:r>
              <a:rPr lang="en-US" altLang="ko-KR" sz="2440" b="1" dirty="0"/>
              <a:t>:</a:t>
            </a:r>
            <a:r>
              <a:rPr lang="ko-KR" altLang="en-US" sz="2440" dirty="0"/>
              <a:t> </a:t>
            </a:r>
            <a:r>
              <a:rPr lang="en-US" altLang="ko-KR" sz="2440" dirty="0"/>
              <a:t>"</a:t>
            </a:r>
            <a:r>
              <a:rPr lang="ko-KR" altLang="en-US" sz="2440" dirty="0"/>
              <a:t>기획부터 개발까지</a:t>
            </a:r>
            <a:r>
              <a:rPr lang="en-US" altLang="ko-KR" sz="2440" dirty="0"/>
              <a:t>, </a:t>
            </a:r>
            <a:r>
              <a:rPr lang="ko-KR" altLang="en-US" sz="2440" dirty="0"/>
              <a:t>공공데이터가 실제 서비스로 구현되는 과정을 경험하며 하이브리드 앱 기술력을 확보했습니다</a:t>
            </a:r>
            <a:r>
              <a:rPr lang="en-US" altLang="ko-KR" sz="2440" dirty="0"/>
              <a:t>."</a:t>
            </a:r>
            <a:endParaRPr lang="en-US" altLang="ko-KR" sz="2440" dirty="0">
              <a:solidFill>
                <a:srgbClr val="323232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  <p:grpSp>
        <p:nvGrpSpPr>
          <p:cNvPr id="62" name="Group 25">
            <a:extLst>
              <a:ext uri="{FF2B5EF4-FFF2-40B4-BE49-F238E27FC236}">
                <a16:creationId xmlns:a16="http://schemas.microsoft.com/office/drawing/2014/main" id="{5F344FA6-787D-4B02-B306-FE52854AF657}"/>
              </a:ext>
            </a:extLst>
          </p:cNvPr>
          <p:cNvGrpSpPr/>
          <p:nvPr/>
        </p:nvGrpSpPr>
        <p:grpSpPr>
          <a:xfrm>
            <a:off x="7778202" y="968172"/>
            <a:ext cx="130635" cy="1565722"/>
            <a:chOff x="0" y="0"/>
            <a:chExt cx="84266" cy="1288522"/>
          </a:xfrm>
        </p:grpSpPr>
        <p:sp>
          <p:nvSpPr>
            <p:cNvPr id="63" name="Freeform 26">
              <a:extLst>
                <a:ext uri="{FF2B5EF4-FFF2-40B4-BE49-F238E27FC236}">
                  <a16:creationId xmlns:a16="http://schemas.microsoft.com/office/drawing/2014/main" id="{C12BA3CC-45F8-4F8D-A5D3-1A84348B6A92}"/>
                </a:ext>
              </a:extLst>
            </p:cNvPr>
            <p:cNvSpPr/>
            <p:nvPr/>
          </p:nvSpPr>
          <p:spPr>
            <a:xfrm>
              <a:off x="0" y="0"/>
              <a:ext cx="84266" cy="1288522"/>
            </a:xfrm>
            <a:custGeom>
              <a:avLst/>
              <a:gdLst/>
              <a:ahLst/>
              <a:cxnLst/>
              <a:rect l="l" t="t" r="r" b="b"/>
              <a:pathLst>
                <a:path w="84266" h="1288522">
                  <a:moveTo>
                    <a:pt x="0" y="0"/>
                  </a:moveTo>
                  <a:lnTo>
                    <a:pt x="84266" y="0"/>
                  </a:lnTo>
                  <a:lnTo>
                    <a:pt x="84266" y="1288522"/>
                  </a:lnTo>
                  <a:lnTo>
                    <a:pt x="0" y="1288522"/>
                  </a:lnTo>
                  <a:close/>
                </a:path>
              </a:pathLst>
            </a:custGeom>
            <a:solidFill>
              <a:srgbClr val="3CB281"/>
            </a:solidFill>
          </p:spPr>
        </p:sp>
        <p:sp>
          <p:nvSpPr>
            <p:cNvPr id="64" name="TextBox 27">
              <a:extLst>
                <a:ext uri="{FF2B5EF4-FFF2-40B4-BE49-F238E27FC236}">
                  <a16:creationId xmlns:a16="http://schemas.microsoft.com/office/drawing/2014/main" id="{71076B98-F65D-4A18-A26D-259C53F8AFD1}"/>
                </a:ext>
              </a:extLst>
            </p:cNvPr>
            <p:cNvSpPr txBox="1"/>
            <p:nvPr/>
          </p:nvSpPr>
          <p:spPr>
            <a:xfrm>
              <a:off x="0" y="-19050"/>
              <a:ext cx="84266" cy="1307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6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>
            <a:off x="1199184" y="7878639"/>
            <a:ext cx="0" cy="1016712"/>
          </a:xfrm>
          <a:prstGeom prst="line">
            <a:avLst/>
          </a:prstGeom>
          <a:ln w="28575" cap="flat">
            <a:solidFill>
              <a:srgbClr val="3CB28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066800" y="2831824"/>
            <a:ext cx="10541707" cy="152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57"/>
              </a:lnSpc>
            </a:pPr>
            <a:r>
              <a:rPr lang="en-US" sz="9797" b="1" spc="-195" dirty="0">
                <a:solidFill>
                  <a:srgbClr val="3CB281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THANK YOU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66800" y="4429245"/>
            <a:ext cx="9611217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97"/>
              </a:lnSpc>
            </a:pPr>
            <a:r>
              <a:rPr lang="en-US" sz="10248" b="1" spc="-204">
                <a:solidFill>
                  <a:srgbClr val="32323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감사합니다.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71600" y="8386860"/>
            <a:ext cx="7029135" cy="508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9"/>
              </a:lnSpc>
            </a:pPr>
            <a:r>
              <a:rPr lang="en-US" sz="3274" spc="-65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김 산, </a:t>
            </a:r>
            <a:r>
              <a:rPr lang="en-US" sz="3274" spc="-65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이예진</a:t>
            </a:r>
            <a:r>
              <a:rPr lang="en-US" sz="3274" spc="-65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, </a:t>
            </a:r>
            <a:r>
              <a:rPr lang="en-US" sz="3274" spc="-65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강민우</a:t>
            </a:r>
            <a:endParaRPr lang="en-US" sz="3274" spc="-65" dirty="0">
              <a:solidFill>
                <a:srgbClr val="323232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  <p:sp>
        <p:nvSpPr>
          <p:cNvPr id="6" name="Freeform 6"/>
          <p:cNvSpPr/>
          <p:nvPr/>
        </p:nvSpPr>
        <p:spPr>
          <a:xfrm flipH="1">
            <a:off x="7601366" y="-146402"/>
            <a:ext cx="11988446" cy="10579804"/>
          </a:xfrm>
          <a:custGeom>
            <a:avLst/>
            <a:gdLst/>
            <a:ahLst/>
            <a:cxnLst/>
            <a:rect l="l" t="t" r="r" b="b"/>
            <a:pathLst>
              <a:path w="11988446" h="10579804">
                <a:moveTo>
                  <a:pt x="11988446" y="0"/>
                </a:moveTo>
                <a:lnTo>
                  <a:pt x="0" y="0"/>
                </a:lnTo>
                <a:lnTo>
                  <a:pt x="0" y="10579804"/>
                </a:lnTo>
                <a:lnTo>
                  <a:pt x="11988446" y="10579804"/>
                </a:lnTo>
                <a:lnTo>
                  <a:pt x="11988446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TextBox 7"/>
          <p:cNvSpPr txBox="1"/>
          <p:nvPr/>
        </p:nvSpPr>
        <p:spPr>
          <a:xfrm>
            <a:off x="1371600" y="7878639"/>
            <a:ext cx="7029135" cy="508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9"/>
              </a:lnSpc>
            </a:pPr>
            <a:r>
              <a:rPr lang="en-US" sz="3274" spc="-65" dirty="0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Team </a:t>
            </a:r>
            <a:r>
              <a:rPr lang="en-US" sz="3274" spc="-65" dirty="0" err="1">
                <a:solidFill>
                  <a:srgbClr val="323232"/>
                </a:solidFill>
                <a:latin typeface="Nanum Square"/>
                <a:ea typeface="Nanum Square"/>
                <a:cs typeface="Nanum Square"/>
                <a:sym typeface="Nanum Square"/>
              </a:rPr>
              <a:t>GenCoder</a:t>
            </a:r>
            <a:endParaRPr lang="en-US" sz="3274" spc="-65" dirty="0">
              <a:solidFill>
                <a:srgbClr val="323232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619</Words>
  <Application>Microsoft Office PowerPoint</Application>
  <PresentationFormat>사용자 지정</PresentationFormat>
  <Paragraphs>101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1" baseType="lpstr">
      <vt:lpstr>Calibri</vt:lpstr>
      <vt:lpstr>Nanum Square</vt:lpstr>
      <vt:lpstr>맑은 고딕</vt:lpstr>
      <vt:lpstr>Arial</vt:lpstr>
      <vt:lpstr>Nanum Square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초록색 과 흰색 깔끔한 회사 비즈니스 보고서 발표 자료 프레젠테이션</dc:title>
  <dc:creator>DIT</dc:creator>
  <cp:lastModifiedBy>USER</cp:lastModifiedBy>
  <cp:revision>16</cp:revision>
  <dcterms:created xsi:type="dcterms:W3CDTF">2006-08-16T00:00:00Z</dcterms:created>
  <dcterms:modified xsi:type="dcterms:W3CDTF">2025-11-19T05:18:45Z</dcterms:modified>
  <dc:identifier>DAG5GcgLN6o</dc:identifier>
</cp:coreProperties>
</file>